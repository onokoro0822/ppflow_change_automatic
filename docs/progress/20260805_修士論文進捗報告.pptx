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D6C5EB5-B125-E782-B8C1-726CF45149BC}" name="関本　義秀" initials="義関" userId="S::4300617000@utac.u-tokyo.ac.jp::58197656-eaaa-4c42-a35f-aab39240ca32" providerId="AD"/>
  <p188:author id="{5AA7D6E4-D81E-CF32-42CA-661684C67DD7}" name="渡辺　悠生" initials="悠渡" userId="S::5317704775@utac.u-tokyo.ac.jp::6bac083b-911a-4d96-88e0-5ba3986ff10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03447BB-5D67-496B-8E87-E561075AD55C}" styleName="濃色スタイル 1 - アクセント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5"/>
  </p:normalViewPr>
  <p:slideViewPr>
    <p:cSldViewPr>
      <p:cViewPr varScale="1">
        <p:scale>
          <a:sx n="115" d="100"/>
          <a:sy n="115" d="100"/>
        </p:scale>
        <p:origin x="376" y="184"/>
      </p:cViewPr>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/Users/yuuki/Desktop/syuron/ppflow_change_automatic/docs/progress/CURRENT.md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/Users/yuuki/Desktop/syuron/mcd/mtg/20260722/summary.md</a:t>
            </a:r>
          </a:p>
          <a:p>
            <a:r>
              <a:t>- https://ssrn.com/abstract=6520042</a:t>
            </a:r>
          </a:p>
          <a:p>
            <a:r>
              <a:t>- /Users/yuuki/Desktop/syuron/ppflow_change_automatic/docs/progress/CURRENT.md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/Users/yuuki/Desktop/syuron/ppflow_change_automatic/docs/progress/CURRENT.md</a:t>
            </a:r>
          </a:p>
          <a:p>
            <a:r>
              <a:t>- /Users/yuuki/Desktop/syuron/ppflow_change_automatic/output/trip_chains/summary.json</a:t>
            </a:r>
          </a:p>
          <a:p>
            <a:r>
              <a:t>- /Users/yuuki/Desktop/syuron/ppflow_change_automatic/output/trip_chains/quality_summary.json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/Users/yuuki/Desktop/syuron/ppflow_change_automatic/docs/progress/20260805_商業目的地置換と感度分析初版.md</a:t>
            </a:r>
          </a:p>
          <a:p>
            <a:r>
              <a:t>- /Users/yuuki/Desktop/syuron/ppflow_change_automatic/output/destination_replacement/meitetsu_nagoya_commercial_demo/summary.json</a:t>
            </a:r>
          </a:p>
          <a:p>
            <a:r>
              <a:t>- https://www.e-meitetsu.com/mds/access/</a:t>
            </a:r>
          </a:p>
          <a:p>
            <a:r>
              <a:t>- https://www.meitetsu.co.jp/ir/reference/results_briefing/__icsFiles/afieldfile/2026/05/13/kaiken20260515_1.pdf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/Users/yuuki/Desktop/syuron/ppflow_change_automatic/output/sensitivity/midland_square/summary.json</a:t>
            </a:r>
          </a:p>
          <a:p>
            <a:r>
              <a:t>- /Users/yuuki/Desktop/syuron/ppflow_change_automatic/docs/progress/20260805_商業目的地置換と感度分析初版.md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/Users/yuuki/Desktop/syuron/ppflow_change_automatic/docs/progress/NEXT.md</a:t>
            </a:r>
          </a:p>
          <a:p>
            <a:r>
              <a:t>- /Users/yuuki/Desktop/syuron/ppflow_change_automatic/docs/progress/20260805_商業目的地置換と感度分析初版.md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C55205D-1BEA-5E5D-5B92-8C3331D1DC79}"/>
              </a:ext>
            </a:extLst>
          </p:cNvPr>
          <p:cNvSpPr>
            <a:spLocks noGrp="1"/>
          </p:cNvSpPr>
          <p:nvPr/>
        </p:nvSpPr>
        <p:spPr>
          <a:xfrm>
            <a:off x="0" y="1"/>
            <a:ext cx="12192000" cy="685799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正方形/長方形 7">
            <a:extLst>
              <a:ext uri="{FF2B5EF4-FFF2-40B4-BE49-F238E27FC236}">
                <a16:creationId xmlns:a16="http://schemas.microsoft.com/office/drawing/2014/main" id="{011358BB-C83D-DC73-90A9-FD099D231007}"/>
              </a:ext>
            </a:extLst>
          </p:cNvPr>
          <p:cNvSpPr>
            <a:spLocks noGrp="1"/>
          </p:cNvSpPr>
          <p:nvPr/>
        </p:nvSpPr>
        <p:spPr>
          <a:xfrm>
            <a:off x="627893" y="1718810"/>
            <a:ext cx="10936214" cy="3645405"/>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buNone/>
            </a:pPr>
            <a:endParaRPr/>
          </a:p>
        </p:txBody>
      </p:sp>
      <p:sp>
        <p:nvSpPr>
          <p:cNvPr id="2" name="Title 1">
            <a:extLst>
              <a:ext uri="{FF2B5EF4-FFF2-40B4-BE49-F238E27FC236}">
                <a16:creationId xmlns:a16="http://schemas.microsoft.com/office/drawing/2014/main" id="{CEDFCFD7-5669-4CDF-8196-80F00CD0B63E}"/>
              </a:ext>
            </a:extLst>
          </p:cNvPr>
          <p:cNvSpPr>
            <a:spLocks noGrp="1"/>
          </p:cNvSpPr>
          <p:nvPr>
            <p:ph type="ctrTitle"/>
          </p:nvPr>
        </p:nvSpPr>
        <p:spPr>
          <a:xfrm>
            <a:off x="815698" y="1822519"/>
            <a:ext cx="8981594" cy="1800200"/>
          </a:xfrm>
        </p:spPr>
        <p:txBody>
          <a:bodyPr anchor="b"/>
          <a:lstStyle>
            <a:lvl1pPr algn="ctr">
              <a:buNone/>
              <a:defRPr sz="6000">
                <a:latin typeface="HGMinchoE"/>
                <a:ea typeface="HGMinchoE"/>
                <a:cs typeface="HGMinchoE"/>
              </a:defRPr>
            </a:lvl1pPr>
          </a:lstStyle>
          <a:p>
            <a:r>
              <a:t>マスター タイトルの書式設定</a:t>
            </a:r>
          </a:p>
        </p:txBody>
      </p:sp>
      <p:sp>
        <p:nvSpPr>
          <p:cNvPr id="4" name="Date Placeholder 3">
            <a:extLst>
              <a:ext uri="{FF2B5EF4-FFF2-40B4-BE49-F238E27FC236}">
                <a16:creationId xmlns:a16="http://schemas.microsoft.com/office/drawing/2014/main" id="{19A3B0E2-4A38-456C-B93E-BB195C4A3BEA}"/>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A66CE179-1185-4294-A28B-2AEC71217739}"/>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3BD2C87E-7E69-49BC-9873-83346CBBCDC3}"/>
              </a:ext>
            </a:extLst>
          </p:cNvPr>
          <p:cNvSpPr>
            <a:spLocks noGrp="1"/>
          </p:cNvSpPr>
          <p:nvPr>
            <p:ph type="sldNum" idx="12"/>
          </p:nvPr>
        </p:nvSpPr>
        <p:spPr/>
        <p:txBody>
          <a:bodyPr/>
          <a:lstStyle/>
          <a:p>
            <a:fld id="{6539E37A-E522-3D47-AAB7-DDF67C94A05D}" type="slidenum">
              <a:t>‹#›</a:t>
            </a:fld>
            <a:endParaRPr/>
          </a:p>
        </p:txBody>
      </p:sp>
      <p:sp>
        <p:nvSpPr>
          <p:cNvPr id="10" name="正方形/長方形 9">
            <a:extLst>
              <a:ext uri="{FF2B5EF4-FFF2-40B4-BE49-F238E27FC236}">
                <a16:creationId xmlns:a16="http://schemas.microsoft.com/office/drawing/2014/main" id="{4CD3B0C5-05CC-6CD8-19D9-83A04040DEB5}"/>
              </a:ext>
            </a:extLst>
          </p:cNvPr>
          <p:cNvSpPr>
            <a:spLocks noGrp="1"/>
          </p:cNvSpPr>
          <p:nvPr/>
        </p:nvSpPr>
        <p:spPr>
          <a:xfrm>
            <a:off x="815696" y="3900233"/>
            <a:ext cx="3915435" cy="45719"/>
          </a:xfrm>
          <a:prstGeom prst="rect">
            <a:avLst/>
          </a:prstGeom>
          <a:solidFill>
            <a:schemeClr val="tx2">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Subtitle 2">
            <a:extLst>
              <a:ext uri="{FF2B5EF4-FFF2-40B4-BE49-F238E27FC236}">
                <a16:creationId xmlns:a16="http://schemas.microsoft.com/office/drawing/2014/main" id="{1EA00032-B280-9C70-9D60-577AEB1A3456}"/>
              </a:ext>
            </a:extLst>
          </p:cNvPr>
          <p:cNvSpPr>
            <a:spLocks noGrp="1"/>
          </p:cNvSpPr>
          <p:nvPr/>
        </p:nvSpPr>
        <p:spPr>
          <a:xfrm>
            <a:off x="815695" y="4494532"/>
            <a:ext cx="5032775" cy="398632"/>
          </a:xfrm>
          <a:prstGeom prst="rect">
            <a:avLst/>
          </a:prstGeom>
        </p:spPr>
        <p:txBody>
          <a:bodyPr vert="horz" lIns="91440" tIns="45720" rIns="91440" bIns="45720">
            <a:normAutofit/>
          </a:bodyPr>
          <a:lstStyle>
            <a:lvl1pPr marL="0" indent="0" algn="ctr">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a:pPr algn="l">
              <a:buNone/>
            </a:pPr>
            <a:r>
              <a:rPr sz="1800">
                <a:solidFill>
                  <a:schemeClr val="bg2">
                    <a:lumMod val="50000"/>
                  </a:schemeClr>
                </a:solidFill>
              </a:rPr>
              <a:t>2026年8月　関本・中居研究室</a:t>
            </a:r>
          </a:p>
        </p:txBody>
      </p:sp>
      <p:sp>
        <p:nvSpPr>
          <p:cNvPr id="12" name="Subtitle 2">
            <a:extLst>
              <a:ext uri="{FF2B5EF4-FFF2-40B4-BE49-F238E27FC236}">
                <a16:creationId xmlns:a16="http://schemas.microsoft.com/office/drawing/2014/main" id="{8C5479DB-FB15-2DE2-02DC-3F41B6BAA47D}"/>
              </a:ext>
            </a:extLst>
          </p:cNvPr>
          <p:cNvSpPr>
            <a:spLocks noGrp="1"/>
          </p:cNvSpPr>
          <p:nvPr/>
        </p:nvSpPr>
        <p:spPr>
          <a:xfrm>
            <a:off x="815696" y="4636415"/>
            <a:ext cx="5032775" cy="398632"/>
          </a:xfrm>
          <a:prstGeom prst="rect">
            <a:avLst/>
          </a:prstGeom>
        </p:spPr>
        <p:txBody>
          <a:bodyPr vert="horz" lIns="91440" tIns="45720" rIns="91440" bIns="45720">
            <a:normAutofit lnSpcReduction="10000"/>
          </a:bodyPr>
          <a:lstStyle>
            <a:lvl1pPr marL="0" indent="0" algn="ctr">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a:pPr algn="l">
              <a:buNone/>
            </a:pPr>
            <a:endParaRPr/>
          </a:p>
        </p:txBody>
      </p:sp>
      <p:sp>
        <p:nvSpPr>
          <p:cNvPr id="13" name="Subtitle 2">
            <a:extLst>
              <a:ext uri="{FF2B5EF4-FFF2-40B4-BE49-F238E27FC236}">
                <a16:creationId xmlns:a16="http://schemas.microsoft.com/office/drawing/2014/main" id="{265B0414-1E04-19AB-89FC-B267F02CDFAF}"/>
              </a:ext>
            </a:extLst>
          </p:cNvPr>
          <p:cNvSpPr>
            <a:spLocks noGrp="1"/>
          </p:cNvSpPr>
          <p:nvPr/>
        </p:nvSpPr>
        <p:spPr>
          <a:xfrm>
            <a:off x="834852" y="4095900"/>
            <a:ext cx="5032775" cy="398632"/>
          </a:xfrm>
          <a:prstGeom prst="rect">
            <a:avLst/>
          </a:prstGeom>
        </p:spPr>
        <p:txBody>
          <a:bodyPr vert="horz" lIns="91440" tIns="45720" rIns="91440" bIns="45720">
            <a:normAutofit/>
          </a:bodyPr>
          <a:lstStyle>
            <a:lvl1pPr marL="0" indent="0" algn="ctr">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a:pPr algn="l">
              <a:buNone/>
            </a:pPr>
            <a:r>
              <a:rPr sz="1800">
                <a:solidFill>
                  <a:schemeClr val="bg2">
                    <a:lumMod val="50000"/>
                  </a:schemeClr>
                </a:solidFill>
              </a:rPr>
              <a:t>修士論文　進捗報告</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44EDEF3-5F82-A47A-BCEE-E6EA44217C62}"/>
              </a:ext>
            </a:extLst>
          </p:cNvPr>
          <p:cNvSpPr>
            <a:spLocks noGrp="1"/>
          </p:cNvSpPr>
          <p:nvPr/>
        </p:nvSpPr>
        <p:spPr>
          <a:xfrm>
            <a:off x="0" y="1"/>
            <a:ext cx="12192000" cy="90871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DA1E3CCA-3CE2-4EF4-BFE4-6B77DD98DA0A}"/>
              </a:ext>
            </a:extLst>
          </p:cNvPr>
          <p:cNvSpPr>
            <a:spLocks noGrp="1"/>
          </p:cNvSpPr>
          <p:nvPr>
            <p:ph type="title"/>
          </p:nvPr>
        </p:nvSpPr>
        <p:spPr>
          <a:xfrm>
            <a:off x="200345" y="1"/>
            <a:ext cx="10326470" cy="908719"/>
          </a:xfrm>
        </p:spPr>
        <p:txBody>
          <a:bodyPr/>
          <a:lstStyle>
            <a:lvl1pPr>
              <a:buNone/>
              <a:defRPr sz="2400">
                <a:solidFill>
                  <a:schemeClr val="bg1"/>
                </a:solidFill>
                <a:latin typeface="HGMinchoE"/>
                <a:ea typeface="HGMinchoE"/>
                <a:cs typeface="HGMinchoE"/>
              </a:defRPr>
            </a:lvl1pPr>
          </a:lstStyle>
          <a:p>
            <a:r>
              <a:t>マスター タイトルの書式設定</a:t>
            </a:r>
          </a:p>
        </p:txBody>
      </p:sp>
      <p:sp>
        <p:nvSpPr>
          <p:cNvPr id="3" name="Content Placeholder 2">
            <a:extLst>
              <a:ext uri="{FF2B5EF4-FFF2-40B4-BE49-F238E27FC236}">
                <a16:creationId xmlns:a16="http://schemas.microsoft.com/office/drawing/2014/main" id="{87D4FA2F-8A80-41C3-9F59-4C73C819572F}"/>
              </a:ext>
            </a:extLst>
          </p:cNvPr>
          <p:cNvSpPr>
            <a:spLocks noGrp="1"/>
          </p:cNvSpPr>
          <p:nvPr>
            <p:ph idx="1"/>
          </p:nvPr>
        </p:nvSpPr>
        <p:spPr>
          <a:xfrm>
            <a:off x="838200" y="1253331"/>
            <a:ext cx="10515600" cy="435133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2EA041E9-C94D-4B63-BBAA-0B9F65B110DD}"/>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287330EF-AB4F-4F03-8F9C-0E6D2B9592BB}"/>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0BBF9B4E-8BDC-4E75-AAE6-DAE6C9DC1777}"/>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AF7F3-377B-475B-91B7-063425BBE96D}"/>
              </a:ext>
            </a:extLst>
          </p:cNvPr>
          <p:cNvSpPr>
            <a:spLocks noGrp="1"/>
          </p:cNvSpPr>
          <p:nvPr>
            <p:ph type="title"/>
          </p:nvPr>
        </p:nvSpPr>
        <p:spPr>
          <a:xfrm>
            <a:off x="831850" y="1709738"/>
            <a:ext cx="10515600" cy="2852737"/>
          </a:xfrm>
        </p:spPr>
        <p:txBody>
          <a:bodyPr anchor="b"/>
          <a:lstStyle>
            <a:lvl1pPr>
              <a:buNone/>
              <a:defRPr sz="6000"/>
            </a:lvl1pPr>
          </a:lstStyle>
          <a:p>
            <a:r>
              <a:t>マスター タイトルの書式設定</a:t>
            </a:r>
          </a:p>
        </p:txBody>
      </p:sp>
      <p:sp>
        <p:nvSpPr>
          <p:cNvPr id="3" name="Text Placeholder 2">
            <a:extLst>
              <a:ext uri="{FF2B5EF4-FFF2-40B4-BE49-F238E27FC236}">
                <a16:creationId xmlns:a16="http://schemas.microsoft.com/office/drawing/2014/main" id="{50E73A06-3141-48B6-A85B-CB93002ABA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a:buNone/>
            </a:pPr>
            <a:r>
              <a:t>マスター テキストの書式設定</a:t>
            </a:r>
          </a:p>
        </p:txBody>
      </p:sp>
      <p:sp>
        <p:nvSpPr>
          <p:cNvPr id="4" name="Date Placeholder 3">
            <a:extLst>
              <a:ext uri="{FF2B5EF4-FFF2-40B4-BE49-F238E27FC236}">
                <a16:creationId xmlns:a16="http://schemas.microsoft.com/office/drawing/2014/main" id="{B9F7F693-4881-4542-A0CE-9AA9D053ABE3}"/>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1DC2734C-C497-44EF-90F6-46E8EFB4883F}"/>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BEEC4A9B-F0E6-4FD5-9339-90855013E2C1}"/>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06F6E-3655-4748-A453-8930F3D83902}"/>
              </a:ext>
            </a:extLst>
          </p:cNvPr>
          <p:cNvSpPr>
            <a:spLocks noGrp="1"/>
          </p:cNvSpPr>
          <p:nvPr>
            <p:ph type="title"/>
          </p:nvPr>
        </p:nvSpPr>
        <p:spPr/>
        <p:txBody>
          <a:bodyPr/>
          <a:lstStyle/>
          <a:p>
            <a:r>
              <a:t>マスター タイトルの書式設定</a:t>
            </a:r>
          </a:p>
        </p:txBody>
      </p:sp>
      <p:sp>
        <p:nvSpPr>
          <p:cNvPr id="3" name="Content Placeholder 2">
            <a:extLst>
              <a:ext uri="{FF2B5EF4-FFF2-40B4-BE49-F238E27FC236}">
                <a16:creationId xmlns:a16="http://schemas.microsoft.com/office/drawing/2014/main" id="{BB727C32-D46B-4D07-AB2D-8DF1F1D41285}"/>
              </a:ext>
            </a:extLst>
          </p:cNvPr>
          <p:cNvSpPr>
            <a:spLocks noGrp="1"/>
          </p:cNvSpPr>
          <p:nvPr>
            <p:ph idx="1"/>
          </p:nvPr>
        </p:nvSpPr>
        <p:spPr>
          <a:xfrm>
            <a:off x="838200" y="1825625"/>
            <a:ext cx="5181600" cy="435133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Content Placeholder 3">
            <a:extLst>
              <a:ext uri="{FF2B5EF4-FFF2-40B4-BE49-F238E27FC236}">
                <a16:creationId xmlns:a16="http://schemas.microsoft.com/office/drawing/2014/main" id="{6EF9CCD7-C78B-4429-A230-3159A6EC020B}"/>
              </a:ext>
            </a:extLst>
          </p:cNvPr>
          <p:cNvSpPr>
            <a:spLocks noGrp="1"/>
          </p:cNvSpPr>
          <p:nvPr>
            <p:ph idx="2"/>
          </p:nvPr>
        </p:nvSpPr>
        <p:spPr>
          <a:xfrm>
            <a:off x="6172200" y="1825625"/>
            <a:ext cx="5181600" cy="435133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5" name="Date Placeholder 4">
            <a:extLst>
              <a:ext uri="{FF2B5EF4-FFF2-40B4-BE49-F238E27FC236}">
                <a16:creationId xmlns:a16="http://schemas.microsoft.com/office/drawing/2014/main" id="{36B516ED-1404-4EF0-82FE-5106E9919356}"/>
              </a:ext>
            </a:extLst>
          </p:cNvPr>
          <p:cNvSpPr>
            <a:spLocks noGrp="1"/>
          </p:cNvSpPr>
          <p:nvPr>
            <p:ph type="dt" idx="10"/>
          </p:nvPr>
        </p:nvSpPr>
        <p:spPr/>
        <p:txBody>
          <a:bodyPr/>
          <a:lstStyle/>
          <a:p>
            <a:r>
              <a:t>2026/7</a:t>
            </a:r>
          </a:p>
        </p:txBody>
      </p:sp>
      <p:sp>
        <p:nvSpPr>
          <p:cNvPr id="6" name="Footer Placeholder 5">
            <a:extLst>
              <a:ext uri="{FF2B5EF4-FFF2-40B4-BE49-F238E27FC236}">
                <a16:creationId xmlns:a16="http://schemas.microsoft.com/office/drawing/2014/main" id="{4F52E344-6EEF-402F-9845-3676F7F61512}"/>
              </a:ext>
            </a:extLst>
          </p:cNvPr>
          <p:cNvSpPr>
            <a:spLocks noGrp="1"/>
          </p:cNvSpPr>
          <p:nvPr>
            <p:ph type="ftr" idx="11"/>
          </p:nvPr>
        </p:nvSpPr>
        <p:spPr/>
        <p:txBody>
          <a:bodyPr/>
          <a:lstStyle/>
          <a:p>
            <a:r>
              <a:t>関本・中居研究室</a:t>
            </a:r>
          </a:p>
        </p:txBody>
      </p:sp>
      <p:sp>
        <p:nvSpPr>
          <p:cNvPr id="7" name="Slide Number Placeholder 6">
            <a:extLst>
              <a:ext uri="{FF2B5EF4-FFF2-40B4-BE49-F238E27FC236}">
                <a16:creationId xmlns:a16="http://schemas.microsoft.com/office/drawing/2014/main" id="{29EFDA9F-D047-42EA-814B-EDC23052F2F2}"/>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03DD0-E642-476B-872F-E09CB857DC7C}"/>
              </a:ext>
            </a:extLst>
          </p:cNvPr>
          <p:cNvSpPr>
            <a:spLocks noGrp="1"/>
          </p:cNvSpPr>
          <p:nvPr>
            <p:ph type="title"/>
          </p:nvPr>
        </p:nvSpPr>
        <p:spPr>
          <a:xfrm>
            <a:off x="839788" y="365125"/>
            <a:ext cx="10515600" cy="1325563"/>
          </a:xfrm>
        </p:spPr>
        <p:txBody>
          <a:bodyPr/>
          <a:lstStyle/>
          <a:p>
            <a:r>
              <a:t>マスター タイトルの書式設定</a:t>
            </a:r>
          </a:p>
        </p:txBody>
      </p:sp>
      <p:sp>
        <p:nvSpPr>
          <p:cNvPr id="3" name="Text Placeholder 2">
            <a:extLst>
              <a:ext uri="{FF2B5EF4-FFF2-40B4-BE49-F238E27FC236}">
                <a16:creationId xmlns:a16="http://schemas.microsoft.com/office/drawing/2014/main" id="{2891B65A-99A7-4EA1-A222-682E206514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マスター テキストの書式設定</a:t>
            </a:r>
          </a:p>
        </p:txBody>
      </p:sp>
      <p:sp>
        <p:nvSpPr>
          <p:cNvPr id="4" name="Content Placeholder 3">
            <a:extLst>
              <a:ext uri="{FF2B5EF4-FFF2-40B4-BE49-F238E27FC236}">
                <a16:creationId xmlns:a16="http://schemas.microsoft.com/office/drawing/2014/main" id="{5D47DDF4-4110-4513-9553-9FDC19587D10}"/>
              </a:ext>
            </a:extLst>
          </p:cNvPr>
          <p:cNvSpPr>
            <a:spLocks noGrp="1"/>
          </p:cNvSpPr>
          <p:nvPr>
            <p:ph idx="2"/>
          </p:nvPr>
        </p:nvSpPr>
        <p:spPr>
          <a:xfrm>
            <a:off x="839788" y="2505075"/>
            <a:ext cx="5157787" cy="368458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5" name="Text Placeholder 4">
            <a:extLst>
              <a:ext uri="{FF2B5EF4-FFF2-40B4-BE49-F238E27FC236}">
                <a16:creationId xmlns:a16="http://schemas.microsoft.com/office/drawing/2014/main" id="{7668D606-2281-43EA-9BAD-4161F6D2D61E}"/>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マスター テキストの書式設定</a:t>
            </a:r>
          </a:p>
        </p:txBody>
      </p:sp>
      <p:sp>
        <p:nvSpPr>
          <p:cNvPr id="6" name="Content Placeholder 5">
            <a:extLst>
              <a:ext uri="{FF2B5EF4-FFF2-40B4-BE49-F238E27FC236}">
                <a16:creationId xmlns:a16="http://schemas.microsoft.com/office/drawing/2014/main" id="{9C202E1D-D386-4F1E-B6BD-2E2449666C77}"/>
              </a:ext>
            </a:extLst>
          </p:cNvPr>
          <p:cNvSpPr>
            <a:spLocks noGrp="1"/>
          </p:cNvSpPr>
          <p:nvPr>
            <p:ph idx="4"/>
          </p:nvPr>
        </p:nvSpPr>
        <p:spPr>
          <a:xfrm>
            <a:off x="6172200" y="2505075"/>
            <a:ext cx="5183188" cy="368458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7" name="Date Placeholder 6">
            <a:extLst>
              <a:ext uri="{FF2B5EF4-FFF2-40B4-BE49-F238E27FC236}">
                <a16:creationId xmlns:a16="http://schemas.microsoft.com/office/drawing/2014/main" id="{FB90A48D-D04A-4857-A71D-A3D0C1B1600E}"/>
              </a:ext>
            </a:extLst>
          </p:cNvPr>
          <p:cNvSpPr>
            <a:spLocks noGrp="1"/>
          </p:cNvSpPr>
          <p:nvPr>
            <p:ph type="dt" idx="10"/>
          </p:nvPr>
        </p:nvSpPr>
        <p:spPr/>
        <p:txBody>
          <a:bodyPr/>
          <a:lstStyle/>
          <a:p>
            <a:r>
              <a:t>2026/7</a:t>
            </a:r>
          </a:p>
        </p:txBody>
      </p:sp>
      <p:sp>
        <p:nvSpPr>
          <p:cNvPr id="8" name="Footer Placeholder 7">
            <a:extLst>
              <a:ext uri="{FF2B5EF4-FFF2-40B4-BE49-F238E27FC236}">
                <a16:creationId xmlns:a16="http://schemas.microsoft.com/office/drawing/2014/main" id="{BD6249F3-4443-45E3-A8C2-0290F8208D4B}"/>
              </a:ext>
            </a:extLst>
          </p:cNvPr>
          <p:cNvSpPr>
            <a:spLocks noGrp="1"/>
          </p:cNvSpPr>
          <p:nvPr>
            <p:ph type="ftr" idx="11"/>
          </p:nvPr>
        </p:nvSpPr>
        <p:spPr/>
        <p:txBody>
          <a:bodyPr/>
          <a:lstStyle/>
          <a:p>
            <a:r>
              <a:t>関本・中居研究室</a:t>
            </a:r>
          </a:p>
        </p:txBody>
      </p:sp>
      <p:sp>
        <p:nvSpPr>
          <p:cNvPr id="9" name="Slide Number Placeholder 8">
            <a:extLst>
              <a:ext uri="{FF2B5EF4-FFF2-40B4-BE49-F238E27FC236}">
                <a16:creationId xmlns:a16="http://schemas.microsoft.com/office/drawing/2014/main" id="{82BA9647-FFBF-4123-955A-CBA4F7BFD5EC}"/>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322B-481D-47DA-B7D6-0BDD07D77BF5}"/>
              </a:ext>
            </a:extLst>
          </p:cNvPr>
          <p:cNvSpPr>
            <a:spLocks noGrp="1"/>
          </p:cNvSpPr>
          <p:nvPr>
            <p:ph type="title"/>
          </p:nvPr>
        </p:nvSpPr>
        <p:spPr/>
        <p:txBody>
          <a:bodyPr/>
          <a:lstStyle/>
          <a:p>
            <a:r>
              <a:t>マスター タイトルの書式設定</a:t>
            </a:r>
          </a:p>
        </p:txBody>
      </p:sp>
      <p:sp>
        <p:nvSpPr>
          <p:cNvPr id="3" name="Date Placeholder 2">
            <a:extLst>
              <a:ext uri="{FF2B5EF4-FFF2-40B4-BE49-F238E27FC236}">
                <a16:creationId xmlns:a16="http://schemas.microsoft.com/office/drawing/2014/main" id="{1854686E-548C-416B-B0B5-081AF327D575}"/>
              </a:ext>
            </a:extLst>
          </p:cNvPr>
          <p:cNvSpPr>
            <a:spLocks noGrp="1"/>
          </p:cNvSpPr>
          <p:nvPr>
            <p:ph type="dt" idx="10"/>
          </p:nvPr>
        </p:nvSpPr>
        <p:spPr/>
        <p:txBody>
          <a:bodyPr/>
          <a:lstStyle/>
          <a:p>
            <a:r>
              <a:t>2026/7</a:t>
            </a:r>
          </a:p>
        </p:txBody>
      </p:sp>
      <p:sp>
        <p:nvSpPr>
          <p:cNvPr id="4" name="Footer Placeholder 3">
            <a:extLst>
              <a:ext uri="{FF2B5EF4-FFF2-40B4-BE49-F238E27FC236}">
                <a16:creationId xmlns:a16="http://schemas.microsoft.com/office/drawing/2014/main" id="{46931CEE-0658-466D-AF43-DAAB564DD98E}"/>
              </a:ext>
            </a:extLst>
          </p:cNvPr>
          <p:cNvSpPr>
            <a:spLocks noGrp="1"/>
          </p:cNvSpPr>
          <p:nvPr>
            <p:ph type="ftr" idx="11"/>
          </p:nvPr>
        </p:nvSpPr>
        <p:spPr/>
        <p:txBody>
          <a:bodyPr/>
          <a:lstStyle/>
          <a:p>
            <a:r>
              <a:t>関本・中居研究室</a:t>
            </a:r>
          </a:p>
        </p:txBody>
      </p:sp>
      <p:sp>
        <p:nvSpPr>
          <p:cNvPr id="5" name="Slide Number Placeholder 4">
            <a:extLst>
              <a:ext uri="{FF2B5EF4-FFF2-40B4-BE49-F238E27FC236}">
                <a16:creationId xmlns:a16="http://schemas.microsoft.com/office/drawing/2014/main" id="{41945100-E454-435E-8219-2C3DAC4D2D85}"/>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6623E9-4E44-413B-955F-3E0FF9C2B6DB}"/>
              </a:ext>
            </a:extLst>
          </p:cNvPr>
          <p:cNvSpPr>
            <a:spLocks noGrp="1"/>
          </p:cNvSpPr>
          <p:nvPr>
            <p:ph type="dt" idx="10"/>
          </p:nvPr>
        </p:nvSpPr>
        <p:spPr/>
        <p:txBody>
          <a:bodyPr/>
          <a:lstStyle/>
          <a:p>
            <a:r>
              <a:t>2026/7</a:t>
            </a:r>
          </a:p>
        </p:txBody>
      </p:sp>
      <p:sp>
        <p:nvSpPr>
          <p:cNvPr id="3" name="Footer Placeholder 2">
            <a:extLst>
              <a:ext uri="{FF2B5EF4-FFF2-40B4-BE49-F238E27FC236}">
                <a16:creationId xmlns:a16="http://schemas.microsoft.com/office/drawing/2014/main" id="{102589D5-2DBD-4E83-9876-681024BF0598}"/>
              </a:ext>
            </a:extLst>
          </p:cNvPr>
          <p:cNvSpPr>
            <a:spLocks noGrp="1"/>
          </p:cNvSpPr>
          <p:nvPr>
            <p:ph type="ftr" idx="11"/>
          </p:nvPr>
        </p:nvSpPr>
        <p:spPr/>
        <p:txBody>
          <a:bodyPr/>
          <a:lstStyle/>
          <a:p>
            <a:r>
              <a:t>関本・中居研究室</a:t>
            </a:r>
          </a:p>
        </p:txBody>
      </p:sp>
      <p:sp>
        <p:nvSpPr>
          <p:cNvPr id="4" name="Slide Number Placeholder 3">
            <a:extLst>
              <a:ext uri="{FF2B5EF4-FFF2-40B4-BE49-F238E27FC236}">
                <a16:creationId xmlns:a16="http://schemas.microsoft.com/office/drawing/2014/main" id="{90810C24-2CB2-4AC5-B789-140AF074A213}"/>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06B6-EA1E-4BA2-BE52-8C6AB9518569}"/>
              </a:ext>
            </a:extLst>
          </p:cNvPr>
          <p:cNvSpPr>
            <a:spLocks noGrp="1"/>
          </p:cNvSpPr>
          <p:nvPr>
            <p:ph type="title"/>
          </p:nvPr>
        </p:nvSpPr>
        <p:spPr>
          <a:xfrm>
            <a:off x="839788" y="457200"/>
            <a:ext cx="3932237" cy="1600200"/>
          </a:xfrm>
        </p:spPr>
        <p:txBody>
          <a:bodyPr anchor="b"/>
          <a:lstStyle>
            <a:lvl1pPr>
              <a:buNone/>
              <a:defRPr sz="3200"/>
            </a:lvl1pPr>
          </a:lstStyle>
          <a:p>
            <a:r>
              <a:t>マスター タイトルの書式設定</a:t>
            </a:r>
          </a:p>
        </p:txBody>
      </p:sp>
      <p:sp>
        <p:nvSpPr>
          <p:cNvPr id="3" name="Content Placeholder 2">
            <a:extLst>
              <a:ext uri="{FF2B5EF4-FFF2-40B4-BE49-F238E27FC236}">
                <a16:creationId xmlns:a16="http://schemas.microsoft.com/office/drawing/2014/main" id="{88A979AE-5C53-431A-B6E7-9B54FC1ED04D}"/>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Text Placeholder 3">
            <a:extLst>
              <a:ext uri="{FF2B5EF4-FFF2-40B4-BE49-F238E27FC236}">
                <a16:creationId xmlns:a16="http://schemas.microsoft.com/office/drawing/2014/main" id="{5FF83870-6770-45DD-864D-F017A14734E7}"/>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マスター テキストの書式設定</a:t>
            </a:r>
          </a:p>
        </p:txBody>
      </p:sp>
      <p:sp>
        <p:nvSpPr>
          <p:cNvPr id="5" name="Date Placeholder 4">
            <a:extLst>
              <a:ext uri="{FF2B5EF4-FFF2-40B4-BE49-F238E27FC236}">
                <a16:creationId xmlns:a16="http://schemas.microsoft.com/office/drawing/2014/main" id="{99EC0FA4-175F-437E-9E81-CCDACEF0D6D2}"/>
              </a:ext>
            </a:extLst>
          </p:cNvPr>
          <p:cNvSpPr>
            <a:spLocks noGrp="1"/>
          </p:cNvSpPr>
          <p:nvPr>
            <p:ph type="dt" idx="10"/>
          </p:nvPr>
        </p:nvSpPr>
        <p:spPr/>
        <p:txBody>
          <a:bodyPr/>
          <a:lstStyle/>
          <a:p>
            <a:r>
              <a:t>2026/7</a:t>
            </a:r>
          </a:p>
        </p:txBody>
      </p:sp>
      <p:sp>
        <p:nvSpPr>
          <p:cNvPr id="6" name="Footer Placeholder 5">
            <a:extLst>
              <a:ext uri="{FF2B5EF4-FFF2-40B4-BE49-F238E27FC236}">
                <a16:creationId xmlns:a16="http://schemas.microsoft.com/office/drawing/2014/main" id="{114EACAE-EE30-431E-9CE0-DAA6DA536777}"/>
              </a:ext>
            </a:extLst>
          </p:cNvPr>
          <p:cNvSpPr>
            <a:spLocks noGrp="1"/>
          </p:cNvSpPr>
          <p:nvPr>
            <p:ph type="ftr" idx="11"/>
          </p:nvPr>
        </p:nvSpPr>
        <p:spPr/>
        <p:txBody>
          <a:bodyPr/>
          <a:lstStyle/>
          <a:p>
            <a:r>
              <a:t>関本・中居研究室</a:t>
            </a:r>
          </a:p>
        </p:txBody>
      </p:sp>
      <p:sp>
        <p:nvSpPr>
          <p:cNvPr id="7" name="Slide Number Placeholder 6">
            <a:extLst>
              <a:ext uri="{FF2B5EF4-FFF2-40B4-BE49-F238E27FC236}">
                <a16:creationId xmlns:a16="http://schemas.microsoft.com/office/drawing/2014/main" id="{349AB41A-647F-496C-A49D-E23B2DED7CC5}"/>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4244B-E99F-4AC2-B099-9682354B432A}"/>
              </a:ext>
            </a:extLst>
          </p:cNvPr>
          <p:cNvSpPr>
            <a:spLocks noGrp="1"/>
          </p:cNvSpPr>
          <p:nvPr>
            <p:ph type="title"/>
          </p:nvPr>
        </p:nvSpPr>
        <p:spPr>
          <a:xfrm>
            <a:off x="839788" y="457200"/>
            <a:ext cx="3932237" cy="1600200"/>
          </a:xfrm>
        </p:spPr>
        <p:txBody>
          <a:bodyPr anchor="b"/>
          <a:lstStyle>
            <a:lvl1pPr>
              <a:buNone/>
              <a:defRPr sz="3200"/>
            </a:lvl1pPr>
          </a:lstStyle>
          <a:p>
            <a:r>
              <a:t>マスター タイトルの書式設定</a:t>
            </a:r>
          </a:p>
        </p:txBody>
      </p:sp>
      <p:sp>
        <p:nvSpPr>
          <p:cNvPr id="3" name="Picture Placeholder 2">
            <a:extLst>
              <a:ext uri="{FF2B5EF4-FFF2-40B4-BE49-F238E27FC236}">
                <a16:creationId xmlns:a16="http://schemas.microsoft.com/office/drawing/2014/main" id="{963A81B6-6650-43EB-BB80-C375C62C2914}"/>
              </a:ext>
            </a:extLst>
          </p:cNvPr>
          <p:cNvSpPr>
            <a:spLocks noGrp="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アイコンをクリックして図を追加</a:t>
            </a:r>
          </a:p>
        </p:txBody>
      </p:sp>
      <p:sp>
        <p:nvSpPr>
          <p:cNvPr id="4" name="Text Placeholder 3">
            <a:extLst>
              <a:ext uri="{FF2B5EF4-FFF2-40B4-BE49-F238E27FC236}">
                <a16:creationId xmlns:a16="http://schemas.microsoft.com/office/drawing/2014/main" id="{EAC36610-C1E4-49AF-9BFC-6D4157EAC10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マスター テキストの書式設定</a:t>
            </a:r>
          </a:p>
        </p:txBody>
      </p:sp>
      <p:sp>
        <p:nvSpPr>
          <p:cNvPr id="5" name="Date Placeholder 4">
            <a:extLst>
              <a:ext uri="{FF2B5EF4-FFF2-40B4-BE49-F238E27FC236}">
                <a16:creationId xmlns:a16="http://schemas.microsoft.com/office/drawing/2014/main" id="{97F4E133-A85B-4961-9121-704167E5B808}"/>
              </a:ext>
            </a:extLst>
          </p:cNvPr>
          <p:cNvSpPr>
            <a:spLocks noGrp="1"/>
          </p:cNvSpPr>
          <p:nvPr>
            <p:ph type="dt" idx="10"/>
          </p:nvPr>
        </p:nvSpPr>
        <p:spPr/>
        <p:txBody>
          <a:bodyPr/>
          <a:lstStyle/>
          <a:p>
            <a:r>
              <a:t>2026/7</a:t>
            </a:r>
          </a:p>
        </p:txBody>
      </p:sp>
      <p:sp>
        <p:nvSpPr>
          <p:cNvPr id="6" name="Footer Placeholder 5">
            <a:extLst>
              <a:ext uri="{FF2B5EF4-FFF2-40B4-BE49-F238E27FC236}">
                <a16:creationId xmlns:a16="http://schemas.microsoft.com/office/drawing/2014/main" id="{7D5D966E-55B1-4A84-B9BF-9AEB608FD361}"/>
              </a:ext>
            </a:extLst>
          </p:cNvPr>
          <p:cNvSpPr>
            <a:spLocks noGrp="1"/>
          </p:cNvSpPr>
          <p:nvPr>
            <p:ph type="ftr" idx="11"/>
          </p:nvPr>
        </p:nvSpPr>
        <p:spPr/>
        <p:txBody>
          <a:bodyPr/>
          <a:lstStyle/>
          <a:p>
            <a:r>
              <a:t>関本・中居研究室</a:t>
            </a:r>
          </a:p>
        </p:txBody>
      </p:sp>
      <p:sp>
        <p:nvSpPr>
          <p:cNvPr id="7" name="Slide Number Placeholder 6">
            <a:extLst>
              <a:ext uri="{FF2B5EF4-FFF2-40B4-BE49-F238E27FC236}">
                <a16:creationId xmlns:a16="http://schemas.microsoft.com/office/drawing/2014/main" id="{E22389C8-A8EB-43B6-8B92-8E02CC63EE52}"/>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301D9-F485-45CE-87D1-876B7795C8F0}"/>
              </a:ext>
            </a:extLst>
          </p:cNvPr>
          <p:cNvSpPr>
            <a:spLocks noGrp="1"/>
          </p:cNvSpPr>
          <p:nvPr>
            <p:ph type="title"/>
          </p:nvPr>
        </p:nvSpPr>
        <p:spPr/>
        <p:txBody>
          <a:bodyPr/>
          <a:lstStyle/>
          <a:p>
            <a:r>
              <a:t>マスター タイトルの書式設定</a:t>
            </a:r>
          </a:p>
        </p:txBody>
      </p:sp>
      <p:sp>
        <p:nvSpPr>
          <p:cNvPr id="3" name="Vertical Text Placeholder 2">
            <a:extLst>
              <a:ext uri="{FF2B5EF4-FFF2-40B4-BE49-F238E27FC236}">
                <a16:creationId xmlns:a16="http://schemas.microsoft.com/office/drawing/2014/main" id="{02254D58-BE4F-493D-98C5-10197B975F6B}"/>
              </a:ext>
            </a:extLst>
          </p:cNvPr>
          <p:cNvSpPr>
            <a:spLocks noGrp="1"/>
          </p:cNvSpPr>
          <p:nvPr>
            <p:ph type="body" idx="1"/>
          </p:nvPr>
        </p:nvSpPr>
        <p:spPr/>
        <p:txBody>
          <a:bodyPr vert="eaVert"/>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CB62F91B-685F-4019-B664-2D6F8918AEF8}"/>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B30F2381-605F-4E62-B860-7CAE72BEB046}"/>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4F32440B-13F8-43EB-B94E-B46B4E3D4884}"/>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66B44E-FEE5-48D1-B2FB-9E0E6BDB4298}"/>
              </a:ext>
            </a:extLst>
          </p:cNvPr>
          <p:cNvSpPr>
            <a:spLocks noGrp="1"/>
          </p:cNvSpPr>
          <p:nvPr>
            <p:ph type="title"/>
          </p:nvPr>
        </p:nvSpPr>
        <p:spPr>
          <a:xfrm>
            <a:off x="8724900" y="365125"/>
            <a:ext cx="2628900" cy="5811838"/>
          </a:xfrm>
        </p:spPr>
        <p:txBody>
          <a:bodyPr vert="eaVert"/>
          <a:lstStyle/>
          <a:p>
            <a:r>
              <a:t>マスター タイトルの書式設定</a:t>
            </a:r>
          </a:p>
        </p:txBody>
      </p:sp>
      <p:sp>
        <p:nvSpPr>
          <p:cNvPr id="3" name="Vertical Text Placeholder 2">
            <a:extLst>
              <a:ext uri="{FF2B5EF4-FFF2-40B4-BE49-F238E27FC236}">
                <a16:creationId xmlns:a16="http://schemas.microsoft.com/office/drawing/2014/main" id="{A64556AC-3DA3-4710-B807-44BA00E3A34D}"/>
              </a:ext>
            </a:extLst>
          </p:cNvPr>
          <p:cNvSpPr>
            <a:spLocks noGrp="1"/>
          </p:cNvSpPr>
          <p:nvPr>
            <p:ph type="body" idx="1"/>
          </p:nvPr>
        </p:nvSpPr>
        <p:spPr>
          <a:xfrm>
            <a:off x="838200" y="365125"/>
            <a:ext cx="7734300" cy="5811838"/>
          </a:xfrm>
        </p:spPr>
        <p:txBody>
          <a:bodyPr vert="eaVert"/>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E4CB5CF4-76FC-4853-92D8-F85E32F658F6}"/>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FDE59F42-5E58-4864-AEE7-FC380CBB6596}"/>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01C118CC-2896-49A8-9726-5B00656C0ABD}"/>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B393A8-A998-4454-9BA1-BFD181C693A2}"/>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マスター タイトルの書式設定</a:t>
            </a:r>
          </a:p>
        </p:txBody>
      </p:sp>
      <p:sp>
        <p:nvSpPr>
          <p:cNvPr id="3" name="Text Placeholder 2">
            <a:extLst>
              <a:ext uri="{FF2B5EF4-FFF2-40B4-BE49-F238E27FC236}">
                <a16:creationId xmlns:a16="http://schemas.microsoft.com/office/drawing/2014/main" id="{AE372BF0-6647-47D2-B9AA-AC5A00DE359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8F2B3B02-7345-4A51-AA40-AF7DD2FFC21A}"/>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r>
              <a:t>2026/7</a:t>
            </a:r>
          </a:p>
        </p:txBody>
      </p:sp>
      <p:sp>
        <p:nvSpPr>
          <p:cNvPr id="5" name="Footer Placeholder 4">
            <a:extLst>
              <a:ext uri="{FF2B5EF4-FFF2-40B4-BE49-F238E27FC236}">
                <a16:creationId xmlns:a16="http://schemas.microsoft.com/office/drawing/2014/main" id="{998EC7DB-3D6E-4E0D-9CDC-795F99ABA397}"/>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r>
              <a:t>関本・中居研究室</a:t>
            </a:r>
          </a:p>
        </p:txBody>
      </p:sp>
      <p:sp>
        <p:nvSpPr>
          <p:cNvPr id="6" name="Slide Number Placeholder 5">
            <a:extLst>
              <a:ext uri="{FF2B5EF4-FFF2-40B4-BE49-F238E27FC236}">
                <a16:creationId xmlns:a16="http://schemas.microsoft.com/office/drawing/2014/main" id="{04B37C9F-FF12-45FE-A77A-2E247A44814C}"/>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b="1">
                <a:solidFill>
                  <a:schemeClr val="tx1">
                    <a:tint val="82000"/>
                  </a:schemeClr>
                </a:solidFill>
              </a:defRPr>
            </a:lvl1pPr>
          </a:lstStyle>
          <a:p>
            <a:fld id="{6539E37A-E522-3D47-AAB7-DDF67C94A05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a:lnSpc>
          <a:spcPct val="90000"/>
        </a:lnSpc>
        <a:buNone/>
        <a:defRPr sz="2800">
          <a:solidFill>
            <a:schemeClr val="tx1"/>
          </a:solidFill>
          <a:latin typeface="+mj-lt"/>
          <a:ea typeface="+mj-lt"/>
          <a:cs typeface="+mj-lt"/>
        </a:defRPr>
      </a:lvl1pPr>
    </p:titleStyle>
    <p:body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9B55DF-5A51-4866-F273-38E181C764D2}"/>
              </a:ext>
            </a:extLst>
          </p:cNvPr>
          <p:cNvSpPr>
            <a:spLocks noGrp="1"/>
          </p:cNvSpPr>
          <p:nvPr>
            <p:ph type="ctrTitle"/>
          </p:nvPr>
        </p:nvSpPr>
        <p:spPr>
          <a:xfrm>
            <a:off x="830415" y="1943835"/>
            <a:ext cx="8910990" cy="1665185"/>
          </a:xfrm>
        </p:spPr>
        <p:txBody>
          <a:bodyPr anchor="t">
            <a:normAutofit/>
          </a:bodyPr>
          <a:lstStyle/>
          <a:p>
            <a:pPr algn="l">
              <a:buNone/>
            </a:pPr>
            <a:r>
              <a:rPr sz="3600"/>
              <a:t>修士論文研究の進捗</a:t>
            </a:r>
          </a:p>
          <a:p>
            <a:pPr algn="l">
              <a:buNone/>
            </a:pPr>
            <a:r>
              <a:rPr sz="3600"/>
              <a:t>人流分析モデルの初期実装</a:t>
            </a:r>
          </a:p>
          <a:p>
            <a:pPr algn="l">
              <a:buNone/>
            </a:pPr>
            <a:r>
              <a:rPr sz="3600"/>
              <a:t>～名鉄名古屋駅周辺を対象に</a:t>
            </a:r>
          </a:p>
        </p:txBody>
      </p:sp>
    </p:spTree>
    <p:extLst>
      <p:ext uri="{BB962C8B-B14F-4D97-AF65-F5344CB8AC3E}">
        <p14:creationId xmlns:p14="http://schemas.microsoft.com/office/powerpoint/2010/main" val="3625556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E576B1-22A1-0D05-6DB9-A4AD50C6CE11}"/>
              </a:ext>
            </a:extLst>
          </p:cNvPr>
          <p:cNvSpPr>
            <a:spLocks noGrp="1"/>
          </p:cNvSpPr>
          <p:nvPr>
            <p:ph type="title"/>
          </p:nvPr>
        </p:nvSpPr>
        <p:spPr/>
        <p:txBody>
          <a:bodyPr/>
          <a:lstStyle/>
          <a:p>
            <a:r>
              <a:t>人流モデルの中核処理を一通り実装</a:t>
            </a:r>
          </a:p>
        </p:txBody>
      </p:sp>
      <p:sp>
        <p:nvSpPr>
          <p:cNvPr id="4" name="日付プレースホルダー 3">
            <a:extLst>
              <a:ext uri="{FF2B5EF4-FFF2-40B4-BE49-F238E27FC236}">
                <a16:creationId xmlns:a16="http://schemas.microsoft.com/office/drawing/2014/main" id="{BE9387B3-A02B-3389-7A72-675A0DF4C767}"/>
              </a:ext>
            </a:extLst>
          </p:cNvPr>
          <p:cNvSpPr>
            <a:spLocks noGrp="1"/>
          </p:cNvSpPr>
          <p:nvPr>
            <p:ph type="dt" idx="10"/>
          </p:nvPr>
        </p:nvSpPr>
        <p:spPr/>
        <p:txBody>
          <a:bodyPr/>
          <a:lstStyle/>
          <a:p>
            <a:r>
              <a:t>2026/8</a:t>
            </a:r>
          </a:p>
        </p:txBody>
      </p:sp>
      <p:sp>
        <p:nvSpPr>
          <p:cNvPr id="5" name="フッター プレースホルダー 4">
            <a:extLst>
              <a:ext uri="{FF2B5EF4-FFF2-40B4-BE49-F238E27FC236}">
                <a16:creationId xmlns:a16="http://schemas.microsoft.com/office/drawing/2014/main" id="{665A0854-A25E-86D0-D931-BC6F83E9840C}"/>
              </a:ext>
            </a:extLst>
          </p:cNvPr>
          <p:cNvSpPr>
            <a:spLocks noGrp="1"/>
          </p:cNvSpPr>
          <p:nvPr>
            <p:ph type="ftr" idx="11"/>
          </p:nvPr>
        </p:nvSpPr>
        <p:spPr/>
        <p:txBody>
          <a:bodyPr/>
          <a:lstStyle/>
          <a:p>
            <a:r>
              <a:t>関本・中居研究室</a:t>
            </a:r>
          </a:p>
        </p:txBody>
      </p:sp>
      <p:sp>
        <p:nvSpPr>
          <p:cNvPr id="6" name="スライド番号プレースホルダー 5">
            <a:extLst>
              <a:ext uri="{FF2B5EF4-FFF2-40B4-BE49-F238E27FC236}">
                <a16:creationId xmlns:a16="http://schemas.microsoft.com/office/drawing/2014/main" id="{83DE9FBD-C16D-C3C4-2F2E-38E16C008899}"/>
              </a:ext>
            </a:extLst>
          </p:cNvPr>
          <p:cNvSpPr>
            <a:spLocks noGrp="1"/>
          </p:cNvSpPr>
          <p:nvPr>
            <p:ph type="sldNum" idx="12"/>
          </p:nvPr>
        </p:nvSpPr>
        <p:spPr/>
        <p:txBody>
          <a:bodyPr/>
          <a:lstStyle/>
          <a:p>
            <a:fld id="{E2598689-54C9-18A7-3A19-ED76AA08988F}" type="slidenum">
              <a:rPr/>
              <a:t>2</a:t>
            </a:fld>
            <a:endParaRPr/>
          </a:p>
        </p:txBody>
      </p:sp>
      <p:sp>
        <p:nvSpPr>
          <p:cNvPr id="22" name="コンテンツ プレースホルダー 2">
            <a:extLst>
              <a:ext uri="{FF2B5EF4-FFF2-40B4-BE49-F238E27FC236}">
                <a16:creationId xmlns:a16="http://schemas.microsoft.com/office/drawing/2014/main" id="{37CAFBFB-CBC4-5813-B1BF-5950CD11BF53}"/>
              </a:ext>
            </a:extLst>
          </p:cNvPr>
          <p:cNvSpPr>
            <a:spLocks noGrp="1"/>
          </p:cNvSpPr>
          <p:nvPr/>
        </p:nvSpPr>
        <p:spPr>
          <a:xfrm>
            <a:off x="425370" y="1041383"/>
            <a:ext cx="11594864" cy="1127477"/>
          </a:xfrm>
          <a:prstGeom prst="rect">
            <a:avLst/>
          </a:prstGeom>
        </p:spPr>
        <p:txBody>
          <a:bodyPr vert="horz" lIns="91440" tIns="45720" rIns="91440" bIns="45720">
            <a:normAutofit/>
          </a:bodyPr>
          <a:lstStyle>
            <a:lvl1pPr marL="228600" indent="-228600" algn="l" defTabSz="914400">
              <a:lnSpc>
                <a:spcPct val="90000"/>
              </a:lnSpc>
              <a:spcBef>
                <a:spcPts val="1000"/>
              </a:spcBef>
              <a:buFont typeface="Arial"/>
              <a:buChar char="•"/>
              <a:defRPr sz="20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18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6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4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2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r>
              <a:rPr sz="1800" b="1"/>
              <a:t>UIより人流シミュレーションを優先</a:t>
            </a:r>
          </a:p>
          <a:p>
            <a:r>
              <a:rPr lang="en-US" sz="1800" b="1"/>
              <a:t>Lieu</a:t>
            </a:r>
            <a:r>
              <a:rPr sz="1800" b="1"/>
              <a:t>氏らの施設境界・相対選好・前後活動分析をPseudo-PFLOWへ適用</a:t>
            </a:r>
          </a:p>
          <a:p>
            <a:r>
              <a:rPr sz="1800" b="1"/>
              <a:t>潜在来訪者の選択からチェーン変更・比較まで、名古屋全件で完走</a:t>
            </a:r>
          </a:p>
        </p:txBody>
      </p:sp>
      <p:sp>
        <p:nvSpPr>
          <p:cNvPr id="23" name="Rounded Rectangle 5">
            <a:extLst>
              <a:ext uri="{FF2B5EF4-FFF2-40B4-BE49-F238E27FC236}">
                <a16:creationId xmlns:a16="http://schemas.microsoft.com/office/drawing/2014/main" id="{C43EEF9F-8FED-7BFA-2237-7E54BB5AC069}"/>
              </a:ext>
            </a:extLst>
          </p:cNvPr>
          <p:cNvSpPr>
            <a:spLocks noGrp="1"/>
          </p:cNvSpPr>
          <p:nvPr/>
        </p:nvSpPr>
        <p:spPr>
          <a:xfrm>
            <a:off x="618220" y="2306227"/>
            <a:ext cx="3420379" cy="3778068"/>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片側の 2 つの角を丸めた四角形 24">
            <a:extLst>
              <a:ext uri="{FF2B5EF4-FFF2-40B4-BE49-F238E27FC236}">
                <a16:creationId xmlns:a16="http://schemas.microsoft.com/office/drawing/2014/main" id="{9DE9E5CF-2253-6B56-FF3E-D828592A5EFC}"/>
              </a:ext>
            </a:extLst>
          </p:cNvPr>
          <p:cNvSpPr>
            <a:spLocks noGrp="1"/>
          </p:cNvSpPr>
          <p:nvPr/>
        </p:nvSpPr>
        <p:spPr>
          <a:xfrm>
            <a:off x="618220" y="2306228"/>
            <a:ext cx="3420379" cy="581241"/>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テキスト ボックス 26">
            <a:extLst>
              <a:ext uri="{FF2B5EF4-FFF2-40B4-BE49-F238E27FC236}">
                <a16:creationId xmlns:a16="http://schemas.microsoft.com/office/drawing/2014/main" id="{1E22F820-3F64-C1A8-3BE1-4F4AEB548CBA}"/>
              </a:ext>
            </a:extLst>
          </p:cNvPr>
          <p:cNvSpPr>
            <a:spLocks noGrp="1"/>
          </p:cNvSpPr>
          <p:nvPr/>
        </p:nvSpPr>
        <p:spPr>
          <a:xfrm>
            <a:off x="726048" y="2470459"/>
            <a:ext cx="3199915" cy="338553"/>
          </a:xfrm>
          <a:prstGeom prst="rect">
            <a:avLst/>
          </a:prstGeom>
          <a:noFill/>
        </p:spPr>
        <p:txBody>
          <a:bodyPr wrap="none">
            <a:spAutoFit/>
          </a:bodyPr>
          <a:lstStyle/>
          <a:p>
            <a:r>
              <a:rPr sz="1600" b="1">
                <a:solidFill>
                  <a:schemeClr val="bg1"/>
                </a:solidFill>
              </a:rPr>
              <a:t>MTGで確認した方針</a:t>
            </a:r>
          </a:p>
        </p:txBody>
      </p:sp>
      <p:sp>
        <p:nvSpPr>
          <p:cNvPr id="32" name="Rounded Rectangle 5">
            <a:extLst>
              <a:ext uri="{FF2B5EF4-FFF2-40B4-BE49-F238E27FC236}">
                <a16:creationId xmlns:a16="http://schemas.microsoft.com/office/drawing/2014/main" id="{1DDBA576-D84B-C769-F1F4-317B8F416E9A}"/>
              </a:ext>
            </a:extLst>
          </p:cNvPr>
          <p:cNvSpPr>
            <a:spLocks noGrp="1"/>
          </p:cNvSpPr>
          <p:nvPr/>
        </p:nvSpPr>
        <p:spPr>
          <a:xfrm>
            <a:off x="4293062" y="2318330"/>
            <a:ext cx="3420379" cy="3778068"/>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片側の 2 つの角を丸めた四角形 32">
            <a:extLst>
              <a:ext uri="{FF2B5EF4-FFF2-40B4-BE49-F238E27FC236}">
                <a16:creationId xmlns:a16="http://schemas.microsoft.com/office/drawing/2014/main" id="{74203617-3F6A-216D-834B-C6FAA31E59F3}"/>
              </a:ext>
            </a:extLst>
          </p:cNvPr>
          <p:cNvSpPr>
            <a:spLocks noGrp="1"/>
          </p:cNvSpPr>
          <p:nvPr/>
        </p:nvSpPr>
        <p:spPr>
          <a:xfrm>
            <a:off x="4293062" y="2318331"/>
            <a:ext cx="3420379" cy="581241"/>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1" name="テキスト ボックス 30">
            <a:extLst>
              <a:ext uri="{FF2B5EF4-FFF2-40B4-BE49-F238E27FC236}">
                <a16:creationId xmlns:a16="http://schemas.microsoft.com/office/drawing/2014/main" id="{14247868-FCAF-015B-E2F5-AF6927669688}"/>
              </a:ext>
            </a:extLst>
          </p:cNvPr>
          <p:cNvSpPr>
            <a:spLocks noGrp="1"/>
          </p:cNvSpPr>
          <p:nvPr/>
        </p:nvSpPr>
        <p:spPr>
          <a:xfrm>
            <a:off x="5298257" y="2483367"/>
            <a:ext cx="1415772" cy="338553"/>
          </a:xfrm>
          <a:prstGeom prst="rect">
            <a:avLst/>
          </a:prstGeom>
          <a:noFill/>
        </p:spPr>
        <p:txBody>
          <a:bodyPr wrap="none">
            <a:spAutoFit/>
          </a:bodyPr>
          <a:lstStyle/>
          <a:p>
            <a:r>
              <a:rPr sz="1600" b="1">
                <a:solidFill>
                  <a:schemeClr val="bg1"/>
                </a:solidFill>
              </a:rPr>
              <a:t>実装・分析基盤</a:t>
            </a:r>
          </a:p>
        </p:txBody>
      </p:sp>
      <p:sp>
        <p:nvSpPr>
          <p:cNvPr id="37" name="Rounded Rectangle 5">
            <a:extLst>
              <a:ext uri="{FF2B5EF4-FFF2-40B4-BE49-F238E27FC236}">
                <a16:creationId xmlns:a16="http://schemas.microsoft.com/office/drawing/2014/main" id="{901A5644-BA38-148B-2FBF-117266FDACE1}"/>
              </a:ext>
            </a:extLst>
          </p:cNvPr>
          <p:cNvSpPr>
            <a:spLocks noGrp="1"/>
          </p:cNvSpPr>
          <p:nvPr/>
        </p:nvSpPr>
        <p:spPr>
          <a:xfrm>
            <a:off x="7973686" y="2306227"/>
            <a:ext cx="3420379" cy="3778068"/>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片側の 2 つの角を丸めた四角形 37">
            <a:extLst>
              <a:ext uri="{FF2B5EF4-FFF2-40B4-BE49-F238E27FC236}">
                <a16:creationId xmlns:a16="http://schemas.microsoft.com/office/drawing/2014/main" id="{54EDACB5-AFA3-E0EB-D685-67D7B83C2BEE}"/>
              </a:ext>
            </a:extLst>
          </p:cNvPr>
          <p:cNvSpPr>
            <a:spLocks noGrp="1"/>
          </p:cNvSpPr>
          <p:nvPr/>
        </p:nvSpPr>
        <p:spPr>
          <a:xfrm>
            <a:off x="7973686" y="2306228"/>
            <a:ext cx="3420379" cy="581241"/>
          </a:xfrm>
          <a:prstGeom prst="round2SameRect">
            <a:avLst>
              <a:gd name="adj1" fmla="val 50000"/>
              <a:gd name="adj2" fmla="val 0"/>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6" name="テキスト ボックス 35">
            <a:extLst>
              <a:ext uri="{FF2B5EF4-FFF2-40B4-BE49-F238E27FC236}">
                <a16:creationId xmlns:a16="http://schemas.microsoft.com/office/drawing/2014/main" id="{C3B59545-2608-E897-EFF8-1E716E321E6B}"/>
              </a:ext>
            </a:extLst>
          </p:cNvPr>
          <p:cNvSpPr>
            <a:spLocks noGrp="1"/>
          </p:cNvSpPr>
          <p:nvPr/>
        </p:nvSpPr>
        <p:spPr>
          <a:xfrm>
            <a:off x="7986210" y="2470459"/>
            <a:ext cx="3492266" cy="338553"/>
          </a:xfrm>
          <a:prstGeom prst="rect">
            <a:avLst/>
          </a:prstGeom>
          <a:noFill/>
        </p:spPr>
        <p:txBody>
          <a:bodyPr wrap="square">
            <a:spAutoFit/>
          </a:bodyPr>
          <a:lstStyle/>
          <a:p>
            <a:pPr algn="ctr">
              <a:buNone/>
            </a:pPr>
            <a:r>
              <a:rPr sz="1600" b="1">
                <a:solidFill>
                  <a:schemeClr val="bg1"/>
                </a:solidFill>
              </a:rPr>
              <a:t>現在地（初期モデル）</a:t>
            </a:r>
          </a:p>
        </p:txBody>
      </p:sp>
      <p:sp>
        <p:nvSpPr>
          <p:cNvPr id="39" name="テキスト ボックス 38">
            <a:extLst>
              <a:ext uri="{FF2B5EF4-FFF2-40B4-BE49-F238E27FC236}">
                <a16:creationId xmlns:a16="http://schemas.microsoft.com/office/drawing/2014/main" id="{F37AE888-B8AF-0F52-700A-F3F84ED9DBCF}"/>
              </a:ext>
            </a:extLst>
          </p:cNvPr>
          <p:cNvSpPr>
            <a:spLocks noGrp="1"/>
          </p:cNvSpPr>
          <p:nvPr/>
        </p:nvSpPr>
        <p:spPr>
          <a:xfrm>
            <a:off x="931005" y="2999060"/>
            <a:ext cx="2893150" cy="584775"/>
          </a:xfrm>
          <a:prstGeom prst="rect">
            <a:avLst/>
          </a:prstGeom>
          <a:noFill/>
        </p:spPr>
        <p:txBody>
          <a:bodyPr wrap="square">
            <a:spAutoFit/>
          </a:bodyPr>
          <a:lstStyle/>
          <a:p>
            <a:r>
              <a:rPr sz="1600"/>
              <a:t>対象は名鉄エリア</a:t>
            </a:r>
          </a:p>
        </p:txBody>
      </p:sp>
      <p:sp>
        <p:nvSpPr>
          <p:cNvPr id="40" name="テキスト ボックス 39">
            <a:extLst>
              <a:ext uri="{FF2B5EF4-FFF2-40B4-BE49-F238E27FC236}">
                <a16:creationId xmlns:a16="http://schemas.microsoft.com/office/drawing/2014/main" id="{8C184932-869C-6A94-B380-98B79A7F7A16}"/>
              </a:ext>
            </a:extLst>
          </p:cNvPr>
          <p:cNvSpPr>
            <a:spLocks noGrp="1"/>
          </p:cNvSpPr>
          <p:nvPr/>
        </p:nvSpPr>
        <p:spPr>
          <a:xfrm>
            <a:off x="931005" y="3583835"/>
            <a:ext cx="2892486" cy="584775"/>
          </a:xfrm>
          <a:prstGeom prst="rect">
            <a:avLst/>
          </a:prstGeom>
          <a:noFill/>
        </p:spPr>
        <p:txBody>
          <a:bodyPr wrap="square">
            <a:spAutoFit/>
          </a:bodyPr>
          <a:lstStyle/>
          <a:p>
            <a:r>
              <a:rPr sz="1600"/>
              <a:t>商業施設モデルを先行</a:t>
            </a:r>
          </a:p>
        </p:txBody>
      </p:sp>
      <p:sp>
        <p:nvSpPr>
          <p:cNvPr id="41" name="テキスト ボックス 40">
            <a:extLst>
              <a:ext uri="{FF2B5EF4-FFF2-40B4-BE49-F238E27FC236}">
                <a16:creationId xmlns:a16="http://schemas.microsoft.com/office/drawing/2014/main" id="{02802972-72DE-69D5-C8C9-BA51A3B0CC6D}"/>
              </a:ext>
            </a:extLst>
          </p:cNvPr>
          <p:cNvSpPr>
            <a:spLocks noGrp="1"/>
          </p:cNvSpPr>
          <p:nvPr/>
        </p:nvSpPr>
        <p:spPr>
          <a:xfrm>
            <a:off x="930341" y="4156245"/>
            <a:ext cx="2880149" cy="584775"/>
          </a:xfrm>
          <a:prstGeom prst="rect">
            <a:avLst/>
          </a:prstGeom>
          <a:noFill/>
        </p:spPr>
        <p:txBody>
          <a:bodyPr wrap="square">
            <a:spAutoFit/>
          </a:bodyPr>
          <a:lstStyle/>
          <a:p>
            <a:r>
              <a:rPr sz="1600"/>
              <a:t>個人単位の活動系列を重視</a:t>
            </a:r>
          </a:p>
        </p:txBody>
      </p:sp>
      <p:sp>
        <p:nvSpPr>
          <p:cNvPr id="42" name="テキスト ボックス 41">
            <a:extLst>
              <a:ext uri="{FF2B5EF4-FFF2-40B4-BE49-F238E27FC236}">
                <a16:creationId xmlns:a16="http://schemas.microsoft.com/office/drawing/2014/main" id="{B6BC8E3A-0B14-9897-B6E6-C86284DDA489}"/>
              </a:ext>
            </a:extLst>
          </p:cNvPr>
          <p:cNvSpPr>
            <a:spLocks noGrp="1"/>
          </p:cNvSpPr>
          <p:nvPr/>
        </p:nvSpPr>
        <p:spPr>
          <a:xfrm>
            <a:off x="930341" y="4753385"/>
            <a:ext cx="2880149" cy="584775"/>
          </a:xfrm>
          <a:prstGeom prst="rect">
            <a:avLst/>
          </a:prstGeom>
          <a:noFill/>
        </p:spPr>
        <p:txBody>
          <a:bodyPr wrap="square">
            <a:spAutoFit/>
          </a:bodyPr>
          <a:lstStyle/>
          <a:p>
            <a:r>
              <a:rPr sz="1600"/>
              <a:t>UI改善は人流モデルの後段</a:t>
            </a:r>
          </a:p>
        </p:txBody>
      </p:sp>
      <p:sp>
        <p:nvSpPr>
          <p:cNvPr id="44" name="テキスト ボックス 43">
            <a:extLst>
              <a:ext uri="{FF2B5EF4-FFF2-40B4-BE49-F238E27FC236}">
                <a16:creationId xmlns:a16="http://schemas.microsoft.com/office/drawing/2014/main" id="{22BDF1C2-2B45-BE08-BF47-DF5166742286}"/>
              </a:ext>
            </a:extLst>
          </p:cNvPr>
          <p:cNvSpPr>
            <a:spLocks noGrp="1"/>
          </p:cNvSpPr>
          <p:nvPr/>
        </p:nvSpPr>
        <p:spPr>
          <a:xfrm>
            <a:off x="642578" y="3112964"/>
            <a:ext cx="415498" cy="369332"/>
          </a:xfrm>
          <a:prstGeom prst="rect">
            <a:avLst/>
          </a:prstGeom>
          <a:noFill/>
        </p:spPr>
        <p:txBody>
          <a:bodyPr wrap="none">
            <a:spAutoFit/>
          </a:bodyPr>
          <a:lstStyle/>
          <a:p>
            <a:r>
              <a:rPr b="1">
                <a:solidFill>
                  <a:srgbClr val="FF0000"/>
                </a:solidFill>
              </a:rPr>
              <a:t>○</a:t>
            </a:r>
          </a:p>
        </p:txBody>
      </p:sp>
      <p:sp>
        <p:nvSpPr>
          <p:cNvPr id="45" name="テキスト ボックス 44">
            <a:extLst>
              <a:ext uri="{FF2B5EF4-FFF2-40B4-BE49-F238E27FC236}">
                <a16:creationId xmlns:a16="http://schemas.microsoft.com/office/drawing/2014/main" id="{FAE73F34-F6EF-C339-747F-925F795D0348}"/>
              </a:ext>
            </a:extLst>
          </p:cNvPr>
          <p:cNvSpPr>
            <a:spLocks noGrp="1"/>
          </p:cNvSpPr>
          <p:nvPr/>
        </p:nvSpPr>
        <p:spPr>
          <a:xfrm>
            <a:off x="642578" y="3687123"/>
            <a:ext cx="415498" cy="369332"/>
          </a:xfrm>
          <a:prstGeom prst="rect">
            <a:avLst/>
          </a:prstGeom>
          <a:noFill/>
        </p:spPr>
        <p:txBody>
          <a:bodyPr wrap="none">
            <a:spAutoFit/>
          </a:bodyPr>
          <a:lstStyle/>
          <a:p>
            <a:r>
              <a:rPr b="1">
                <a:solidFill>
                  <a:srgbClr val="FF0000"/>
                </a:solidFill>
              </a:rPr>
              <a:t>○</a:t>
            </a:r>
          </a:p>
        </p:txBody>
      </p:sp>
      <p:sp>
        <p:nvSpPr>
          <p:cNvPr id="46" name="テキスト ボックス 45">
            <a:extLst>
              <a:ext uri="{FF2B5EF4-FFF2-40B4-BE49-F238E27FC236}">
                <a16:creationId xmlns:a16="http://schemas.microsoft.com/office/drawing/2014/main" id="{13DA31AB-3A75-02E3-3AEF-48C8A0F4C9FD}"/>
              </a:ext>
            </a:extLst>
          </p:cNvPr>
          <p:cNvSpPr>
            <a:spLocks noGrp="1"/>
          </p:cNvSpPr>
          <p:nvPr/>
        </p:nvSpPr>
        <p:spPr>
          <a:xfrm>
            <a:off x="661814" y="4275992"/>
            <a:ext cx="377026" cy="369332"/>
          </a:xfrm>
          <a:prstGeom prst="rect">
            <a:avLst/>
          </a:prstGeom>
          <a:noFill/>
        </p:spPr>
        <p:txBody>
          <a:bodyPr wrap="none">
            <a:spAutoFit/>
          </a:bodyPr>
          <a:lstStyle/>
          <a:p>
            <a:r>
              <a:rPr>
                <a:solidFill>
                  <a:srgbClr val="0432FF"/>
                </a:solidFill>
              </a:rPr>
              <a:t>○</a:t>
            </a:r>
          </a:p>
        </p:txBody>
      </p:sp>
      <p:sp>
        <p:nvSpPr>
          <p:cNvPr id="47" name="テキスト ボックス 46">
            <a:extLst>
              <a:ext uri="{FF2B5EF4-FFF2-40B4-BE49-F238E27FC236}">
                <a16:creationId xmlns:a16="http://schemas.microsoft.com/office/drawing/2014/main" id="{8CB71F67-AEF7-4394-2087-747BB5E777D6}"/>
              </a:ext>
            </a:extLst>
          </p:cNvPr>
          <p:cNvSpPr>
            <a:spLocks noGrp="1"/>
          </p:cNvSpPr>
          <p:nvPr/>
        </p:nvSpPr>
        <p:spPr>
          <a:xfrm>
            <a:off x="661814" y="4853508"/>
            <a:ext cx="377026" cy="369332"/>
          </a:xfrm>
          <a:prstGeom prst="rect">
            <a:avLst/>
          </a:prstGeom>
          <a:noFill/>
        </p:spPr>
        <p:txBody>
          <a:bodyPr wrap="none">
            <a:spAutoFit/>
          </a:bodyPr>
          <a:lstStyle/>
          <a:p>
            <a:r>
              <a:rPr>
                <a:solidFill>
                  <a:srgbClr val="0432FF"/>
                </a:solidFill>
              </a:rPr>
              <a:t>○</a:t>
            </a:r>
          </a:p>
        </p:txBody>
      </p:sp>
      <p:sp>
        <p:nvSpPr>
          <p:cNvPr id="48" name="テキスト ボックス 47">
            <a:extLst>
              <a:ext uri="{FF2B5EF4-FFF2-40B4-BE49-F238E27FC236}">
                <a16:creationId xmlns:a16="http://schemas.microsoft.com/office/drawing/2014/main" id="{E74E280A-A690-513F-CDBD-E6412CC7188D}"/>
              </a:ext>
            </a:extLst>
          </p:cNvPr>
          <p:cNvSpPr>
            <a:spLocks noGrp="1"/>
          </p:cNvSpPr>
          <p:nvPr/>
        </p:nvSpPr>
        <p:spPr>
          <a:xfrm>
            <a:off x="726048" y="5354952"/>
            <a:ext cx="3204723" cy="523220"/>
          </a:xfrm>
          <a:prstGeom prst="rect">
            <a:avLst/>
          </a:prstGeom>
          <a:noFill/>
        </p:spPr>
        <p:txBody>
          <a:bodyPr wrap="square">
            <a:spAutoFit/>
          </a:bodyPr>
          <a:lstStyle/>
          <a:p>
            <a:r>
              <a:rPr sz="1400"/>
              <a:t>2026/7/22 MTG</a:t>
            </a:r>
          </a:p>
        </p:txBody>
      </p:sp>
      <p:sp>
        <p:nvSpPr>
          <p:cNvPr id="49" name="テキスト ボックス 48">
            <a:extLst>
              <a:ext uri="{FF2B5EF4-FFF2-40B4-BE49-F238E27FC236}">
                <a16:creationId xmlns:a16="http://schemas.microsoft.com/office/drawing/2014/main" id="{2A9C890E-6F5B-2745-F214-6150E50C5210}"/>
              </a:ext>
            </a:extLst>
          </p:cNvPr>
          <p:cNvSpPr>
            <a:spLocks noGrp="1"/>
          </p:cNvSpPr>
          <p:nvPr/>
        </p:nvSpPr>
        <p:spPr>
          <a:xfrm>
            <a:off x="4603583" y="2999060"/>
            <a:ext cx="2893150" cy="584775"/>
          </a:xfrm>
          <a:prstGeom prst="rect">
            <a:avLst/>
          </a:prstGeom>
          <a:noFill/>
        </p:spPr>
        <p:txBody>
          <a:bodyPr wrap="square">
            <a:spAutoFit/>
          </a:bodyPr>
          <a:lstStyle/>
          <a:p>
            <a:r>
              <a:rPr sz="1600"/>
              <a:t>745.6万トリップをDB化</a:t>
            </a:r>
          </a:p>
        </p:txBody>
      </p:sp>
      <p:sp>
        <p:nvSpPr>
          <p:cNvPr id="50" name="テキスト ボックス 49">
            <a:extLst>
              <a:ext uri="{FF2B5EF4-FFF2-40B4-BE49-F238E27FC236}">
                <a16:creationId xmlns:a16="http://schemas.microsoft.com/office/drawing/2014/main" id="{FB47F317-B7CF-8500-1F8D-127123FA82C4}"/>
              </a:ext>
            </a:extLst>
          </p:cNvPr>
          <p:cNvSpPr>
            <a:spLocks noGrp="1"/>
          </p:cNvSpPr>
          <p:nvPr/>
        </p:nvSpPr>
        <p:spPr>
          <a:xfrm>
            <a:off x="4603583" y="3583835"/>
            <a:ext cx="2892486" cy="584775"/>
          </a:xfrm>
          <a:prstGeom prst="rect">
            <a:avLst/>
          </a:prstGeom>
          <a:noFill/>
        </p:spPr>
        <p:txBody>
          <a:bodyPr wrap="square">
            <a:spAutoFit/>
          </a:bodyPr>
          <a:lstStyle/>
          <a:p>
            <a:r>
              <a:rPr sz="1600"/>
              <a:t>214.2万人のチェーンを復元</a:t>
            </a:r>
          </a:p>
        </p:txBody>
      </p:sp>
      <p:sp>
        <p:nvSpPr>
          <p:cNvPr id="51" name="テキスト ボックス 50">
            <a:extLst>
              <a:ext uri="{FF2B5EF4-FFF2-40B4-BE49-F238E27FC236}">
                <a16:creationId xmlns:a16="http://schemas.microsoft.com/office/drawing/2014/main" id="{07632B67-AA4B-2FB6-77CD-FCC60D902BDB}"/>
              </a:ext>
            </a:extLst>
          </p:cNvPr>
          <p:cNvSpPr>
            <a:spLocks noGrp="1"/>
          </p:cNvSpPr>
          <p:nvPr/>
        </p:nvSpPr>
        <p:spPr>
          <a:xfrm>
            <a:off x="4602919" y="4156245"/>
            <a:ext cx="2880149" cy="584775"/>
          </a:xfrm>
          <a:prstGeom prst="rect">
            <a:avLst/>
          </a:prstGeom>
          <a:noFill/>
        </p:spPr>
        <p:txBody>
          <a:bodyPr wrap="square">
            <a:spAutoFit/>
          </a:bodyPr>
          <a:lstStyle/>
          <a:p>
            <a:r>
              <a:rPr sz="1600"/>
              <a:t>品質レイヤーを全件適用</a:t>
            </a:r>
          </a:p>
        </p:txBody>
      </p:sp>
      <p:sp>
        <p:nvSpPr>
          <p:cNvPr id="52" name="テキスト ボックス 51">
            <a:extLst>
              <a:ext uri="{FF2B5EF4-FFF2-40B4-BE49-F238E27FC236}">
                <a16:creationId xmlns:a16="http://schemas.microsoft.com/office/drawing/2014/main" id="{5EC0B909-01CD-57AD-F085-EFF8DBA719AD}"/>
              </a:ext>
            </a:extLst>
          </p:cNvPr>
          <p:cNvSpPr>
            <a:spLocks noGrp="1"/>
          </p:cNvSpPr>
          <p:nvPr/>
        </p:nvSpPr>
        <p:spPr>
          <a:xfrm>
            <a:off x="4602919" y="4753385"/>
            <a:ext cx="2880149" cy="584775"/>
          </a:xfrm>
          <a:prstGeom prst="rect">
            <a:avLst/>
          </a:prstGeom>
          <a:noFill/>
        </p:spPr>
        <p:txBody>
          <a:bodyPr wrap="square">
            <a:spAutoFit/>
          </a:bodyPr>
          <a:lstStyle/>
          <a:p>
            <a:r>
              <a:rPr sz="1600"/>
              <a:t>全市・施設プロファイルを生成</a:t>
            </a:r>
          </a:p>
        </p:txBody>
      </p:sp>
      <p:sp>
        <p:nvSpPr>
          <p:cNvPr id="53" name="テキスト ボックス 52">
            <a:extLst>
              <a:ext uri="{FF2B5EF4-FFF2-40B4-BE49-F238E27FC236}">
                <a16:creationId xmlns:a16="http://schemas.microsoft.com/office/drawing/2014/main" id="{0A1CF332-8B3C-7B7A-9099-C72E1956ED72}"/>
              </a:ext>
            </a:extLst>
          </p:cNvPr>
          <p:cNvSpPr>
            <a:spLocks noGrp="1"/>
          </p:cNvSpPr>
          <p:nvPr/>
        </p:nvSpPr>
        <p:spPr>
          <a:xfrm>
            <a:off x="4315156" y="3112964"/>
            <a:ext cx="415498" cy="369332"/>
          </a:xfrm>
          <a:prstGeom prst="rect">
            <a:avLst/>
          </a:prstGeom>
          <a:noFill/>
        </p:spPr>
        <p:txBody>
          <a:bodyPr wrap="none">
            <a:spAutoFit/>
          </a:bodyPr>
          <a:lstStyle/>
          <a:p>
            <a:r>
              <a:rPr b="1">
                <a:solidFill>
                  <a:srgbClr val="FF0000"/>
                </a:solidFill>
              </a:rPr>
              <a:t>○</a:t>
            </a:r>
          </a:p>
        </p:txBody>
      </p:sp>
      <p:sp>
        <p:nvSpPr>
          <p:cNvPr id="54" name="テキスト ボックス 53">
            <a:extLst>
              <a:ext uri="{FF2B5EF4-FFF2-40B4-BE49-F238E27FC236}">
                <a16:creationId xmlns:a16="http://schemas.microsoft.com/office/drawing/2014/main" id="{CB7C5CD4-DD52-731C-AC6A-746DFA2F1B6A}"/>
              </a:ext>
            </a:extLst>
          </p:cNvPr>
          <p:cNvSpPr>
            <a:spLocks noGrp="1"/>
          </p:cNvSpPr>
          <p:nvPr/>
        </p:nvSpPr>
        <p:spPr>
          <a:xfrm>
            <a:off x="4315156" y="3687123"/>
            <a:ext cx="415498" cy="369332"/>
          </a:xfrm>
          <a:prstGeom prst="rect">
            <a:avLst/>
          </a:prstGeom>
          <a:noFill/>
        </p:spPr>
        <p:txBody>
          <a:bodyPr wrap="none">
            <a:spAutoFit/>
          </a:bodyPr>
          <a:lstStyle/>
          <a:p>
            <a:r>
              <a:rPr b="1">
                <a:solidFill>
                  <a:srgbClr val="FF0000"/>
                </a:solidFill>
              </a:rPr>
              <a:t>○</a:t>
            </a:r>
          </a:p>
        </p:txBody>
      </p:sp>
      <p:sp>
        <p:nvSpPr>
          <p:cNvPr id="55" name="テキスト ボックス 54">
            <a:extLst>
              <a:ext uri="{FF2B5EF4-FFF2-40B4-BE49-F238E27FC236}">
                <a16:creationId xmlns:a16="http://schemas.microsoft.com/office/drawing/2014/main" id="{26EFA40C-0F9B-DB5C-CE78-A287761B62C2}"/>
              </a:ext>
            </a:extLst>
          </p:cNvPr>
          <p:cNvSpPr>
            <a:spLocks noGrp="1"/>
          </p:cNvSpPr>
          <p:nvPr/>
        </p:nvSpPr>
        <p:spPr>
          <a:xfrm>
            <a:off x="4315156" y="4261282"/>
            <a:ext cx="377026" cy="369332"/>
          </a:xfrm>
          <a:prstGeom prst="rect">
            <a:avLst/>
          </a:prstGeom>
          <a:noFill/>
        </p:spPr>
        <p:txBody>
          <a:bodyPr wrap="none">
            <a:spAutoFit/>
          </a:bodyPr>
          <a:lstStyle/>
          <a:p>
            <a:r>
              <a:rPr>
                <a:solidFill>
                  <a:srgbClr val="0432FF"/>
                </a:solidFill>
              </a:rPr>
              <a:t>○</a:t>
            </a:r>
          </a:p>
        </p:txBody>
      </p:sp>
      <p:sp>
        <p:nvSpPr>
          <p:cNvPr id="56" name="テキスト ボックス 55">
            <a:extLst>
              <a:ext uri="{FF2B5EF4-FFF2-40B4-BE49-F238E27FC236}">
                <a16:creationId xmlns:a16="http://schemas.microsoft.com/office/drawing/2014/main" id="{6E429E77-67E6-5B7A-0297-EBEE4AC7328A}"/>
              </a:ext>
            </a:extLst>
          </p:cNvPr>
          <p:cNvSpPr>
            <a:spLocks noGrp="1"/>
          </p:cNvSpPr>
          <p:nvPr/>
        </p:nvSpPr>
        <p:spPr>
          <a:xfrm>
            <a:off x="4315156" y="4838798"/>
            <a:ext cx="377026" cy="369332"/>
          </a:xfrm>
          <a:prstGeom prst="rect">
            <a:avLst/>
          </a:prstGeom>
          <a:noFill/>
        </p:spPr>
        <p:txBody>
          <a:bodyPr wrap="none">
            <a:spAutoFit/>
          </a:bodyPr>
          <a:lstStyle/>
          <a:p>
            <a:r>
              <a:rPr>
                <a:solidFill>
                  <a:srgbClr val="0432FF"/>
                </a:solidFill>
              </a:rPr>
              <a:t>○</a:t>
            </a:r>
          </a:p>
        </p:txBody>
      </p:sp>
      <p:sp>
        <p:nvSpPr>
          <p:cNvPr id="57" name="テキスト ボックス 56">
            <a:extLst>
              <a:ext uri="{FF2B5EF4-FFF2-40B4-BE49-F238E27FC236}">
                <a16:creationId xmlns:a16="http://schemas.microsoft.com/office/drawing/2014/main" id="{1F43922B-AB00-1438-9225-6FD1E733A61D}"/>
              </a:ext>
            </a:extLst>
          </p:cNvPr>
          <p:cNvSpPr>
            <a:spLocks noGrp="1"/>
          </p:cNvSpPr>
          <p:nvPr/>
        </p:nvSpPr>
        <p:spPr>
          <a:xfrm>
            <a:off x="4451019" y="5354952"/>
            <a:ext cx="3204723" cy="307777"/>
          </a:xfrm>
          <a:prstGeom prst="rect">
            <a:avLst/>
          </a:prstGeom>
          <a:noFill/>
        </p:spPr>
        <p:txBody>
          <a:bodyPr wrap="square">
            <a:spAutoFit/>
          </a:bodyPr>
          <a:lstStyle/>
          <a:p>
            <a:r>
              <a:rPr sz="1400"/>
              <a:t>38 tests / DB integrity: ok</a:t>
            </a:r>
          </a:p>
        </p:txBody>
      </p:sp>
      <p:sp>
        <p:nvSpPr>
          <p:cNvPr id="62" name="テキスト ボックス 61">
            <a:extLst>
              <a:ext uri="{FF2B5EF4-FFF2-40B4-BE49-F238E27FC236}">
                <a16:creationId xmlns:a16="http://schemas.microsoft.com/office/drawing/2014/main" id="{547BAB07-8676-EEA1-1FCD-05A8BA70B92E}"/>
              </a:ext>
            </a:extLst>
          </p:cNvPr>
          <p:cNvSpPr>
            <a:spLocks noGrp="1"/>
          </p:cNvSpPr>
          <p:nvPr/>
        </p:nvSpPr>
        <p:spPr>
          <a:xfrm>
            <a:off x="7994951" y="3112964"/>
            <a:ext cx="415498" cy="369332"/>
          </a:xfrm>
          <a:prstGeom prst="rect">
            <a:avLst/>
          </a:prstGeom>
          <a:noFill/>
        </p:spPr>
        <p:txBody>
          <a:bodyPr wrap="none">
            <a:spAutoFit/>
          </a:bodyPr>
          <a:lstStyle/>
          <a:p>
            <a:r>
              <a:rPr b="1">
                <a:solidFill>
                  <a:srgbClr val="FF0000"/>
                </a:solidFill>
              </a:rPr>
              <a:t>○</a:t>
            </a:r>
          </a:p>
        </p:txBody>
      </p:sp>
      <p:sp>
        <p:nvSpPr>
          <p:cNvPr id="63" name="テキスト ボックス 62">
            <a:extLst>
              <a:ext uri="{FF2B5EF4-FFF2-40B4-BE49-F238E27FC236}">
                <a16:creationId xmlns:a16="http://schemas.microsoft.com/office/drawing/2014/main" id="{7B423202-A49D-2522-A6B0-F25CF2A95344}"/>
              </a:ext>
            </a:extLst>
          </p:cNvPr>
          <p:cNvSpPr>
            <a:spLocks noGrp="1"/>
          </p:cNvSpPr>
          <p:nvPr/>
        </p:nvSpPr>
        <p:spPr>
          <a:xfrm>
            <a:off x="7994951" y="3687123"/>
            <a:ext cx="415498" cy="369332"/>
          </a:xfrm>
          <a:prstGeom prst="rect">
            <a:avLst/>
          </a:prstGeom>
          <a:noFill/>
        </p:spPr>
        <p:txBody>
          <a:bodyPr wrap="none">
            <a:spAutoFit/>
          </a:bodyPr>
          <a:lstStyle/>
          <a:p>
            <a:r>
              <a:rPr b="1">
                <a:solidFill>
                  <a:srgbClr val="FF0000"/>
                </a:solidFill>
              </a:rPr>
              <a:t>○</a:t>
            </a:r>
          </a:p>
        </p:txBody>
      </p:sp>
      <p:sp>
        <p:nvSpPr>
          <p:cNvPr id="76" name="テキスト ボックス 75">
            <a:extLst>
              <a:ext uri="{FF2B5EF4-FFF2-40B4-BE49-F238E27FC236}">
                <a16:creationId xmlns:a16="http://schemas.microsoft.com/office/drawing/2014/main" id="{B2F6402B-E88E-4D3E-467F-38D375476016}"/>
              </a:ext>
            </a:extLst>
          </p:cNvPr>
          <p:cNvSpPr>
            <a:spLocks noGrp="1"/>
          </p:cNvSpPr>
          <p:nvPr/>
        </p:nvSpPr>
        <p:spPr>
          <a:xfrm>
            <a:off x="8381510" y="2999060"/>
            <a:ext cx="2893150" cy="584775"/>
          </a:xfrm>
          <a:prstGeom prst="rect">
            <a:avLst/>
          </a:prstGeom>
          <a:noFill/>
        </p:spPr>
        <p:txBody>
          <a:bodyPr wrap="square">
            <a:spAutoFit/>
          </a:bodyPr>
          <a:lstStyle/>
          <a:p>
            <a:r>
              <a:rPr sz="1600"/>
              <a:t>高選好候補 80,658人</a:t>
            </a:r>
          </a:p>
        </p:txBody>
      </p:sp>
      <p:sp>
        <p:nvSpPr>
          <p:cNvPr id="77" name="テキスト ボックス 76">
            <a:extLst>
              <a:ext uri="{FF2B5EF4-FFF2-40B4-BE49-F238E27FC236}">
                <a16:creationId xmlns:a16="http://schemas.microsoft.com/office/drawing/2014/main" id="{31150009-7B97-A334-D7CC-1F128CDD5E9A}"/>
              </a:ext>
            </a:extLst>
          </p:cNvPr>
          <p:cNvSpPr>
            <a:spLocks noGrp="1"/>
          </p:cNvSpPr>
          <p:nvPr/>
        </p:nvSpPr>
        <p:spPr>
          <a:xfrm>
            <a:off x="8381510" y="3583835"/>
            <a:ext cx="2892486" cy="584775"/>
          </a:xfrm>
          <a:prstGeom prst="rect">
            <a:avLst/>
          </a:prstGeom>
          <a:noFill/>
        </p:spPr>
        <p:txBody>
          <a:bodyPr wrap="square">
            <a:spAutoFit/>
          </a:bodyPr>
          <a:lstStyle/>
          <a:p>
            <a:r>
              <a:rPr sz="1600"/>
              <a:t>目的地置換 200人</a:t>
            </a:r>
          </a:p>
        </p:txBody>
      </p:sp>
      <p:sp>
        <p:nvSpPr>
          <p:cNvPr id="78" name="テキスト ボックス 77">
            <a:extLst>
              <a:ext uri="{FF2B5EF4-FFF2-40B4-BE49-F238E27FC236}">
                <a16:creationId xmlns:a16="http://schemas.microsoft.com/office/drawing/2014/main" id="{59950C45-E8C2-9444-4857-EAC7326D66F4}"/>
              </a:ext>
            </a:extLst>
          </p:cNvPr>
          <p:cNvSpPr>
            <a:spLocks noGrp="1"/>
          </p:cNvSpPr>
          <p:nvPr/>
        </p:nvSpPr>
        <p:spPr>
          <a:xfrm>
            <a:off x="8380846" y="4156245"/>
            <a:ext cx="2880149" cy="584775"/>
          </a:xfrm>
          <a:prstGeom prst="rect">
            <a:avLst/>
          </a:prstGeom>
          <a:noFill/>
        </p:spPr>
        <p:txBody>
          <a:bodyPr wrap="square">
            <a:spAutoFit/>
          </a:bodyPr>
          <a:lstStyle/>
          <a:p>
            <a:r>
              <a:rPr sz="1600"/>
              <a:t>時刻・チェーン違反 0件</a:t>
            </a:r>
          </a:p>
        </p:txBody>
      </p:sp>
      <p:sp>
        <p:nvSpPr>
          <p:cNvPr id="79" name="テキスト ボックス 78">
            <a:extLst>
              <a:ext uri="{FF2B5EF4-FFF2-40B4-BE49-F238E27FC236}">
                <a16:creationId xmlns:a16="http://schemas.microsoft.com/office/drawing/2014/main" id="{D28E2104-AC83-F9C5-4B1B-4232200C731F}"/>
              </a:ext>
            </a:extLst>
          </p:cNvPr>
          <p:cNvSpPr>
            <a:spLocks noGrp="1"/>
          </p:cNvSpPr>
          <p:nvPr/>
        </p:nvSpPr>
        <p:spPr>
          <a:xfrm>
            <a:off x="8380846" y="4753385"/>
            <a:ext cx="2880149" cy="584775"/>
          </a:xfrm>
          <a:prstGeom prst="rect">
            <a:avLst/>
          </a:prstGeom>
          <a:noFill/>
        </p:spPr>
        <p:txBody>
          <a:bodyPr wrap="square">
            <a:spAutoFit/>
          </a:bodyPr>
          <a:lstStyle/>
          <a:p>
            <a:r>
              <a:rPr sz="1600"/>
              <a:t>境界・閾値の感度分析まで完了</a:t>
            </a:r>
          </a:p>
        </p:txBody>
      </p:sp>
      <p:sp>
        <p:nvSpPr>
          <p:cNvPr id="85" name="テキスト ボックス 84">
            <a:extLst>
              <a:ext uri="{FF2B5EF4-FFF2-40B4-BE49-F238E27FC236}">
                <a16:creationId xmlns:a16="http://schemas.microsoft.com/office/drawing/2014/main" id="{71FACC7C-FB81-3B6A-BCBE-FE609F70F2CB}"/>
              </a:ext>
            </a:extLst>
          </p:cNvPr>
          <p:cNvSpPr>
            <a:spLocks noGrp="1"/>
          </p:cNvSpPr>
          <p:nvPr/>
        </p:nvSpPr>
        <p:spPr>
          <a:xfrm>
            <a:off x="8001205" y="4243896"/>
            <a:ext cx="415498" cy="369332"/>
          </a:xfrm>
          <a:prstGeom prst="rect">
            <a:avLst/>
          </a:prstGeom>
          <a:noFill/>
        </p:spPr>
        <p:txBody>
          <a:bodyPr wrap="none">
            <a:spAutoFit/>
          </a:bodyPr>
          <a:lstStyle/>
          <a:p>
            <a:r>
              <a:rPr b="1">
                <a:solidFill>
                  <a:srgbClr val="FF0000"/>
                </a:solidFill>
              </a:rPr>
              <a:t>○</a:t>
            </a:r>
          </a:p>
        </p:txBody>
      </p:sp>
      <p:sp>
        <p:nvSpPr>
          <p:cNvPr id="86" name="テキスト ボックス 85">
            <a:extLst>
              <a:ext uri="{FF2B5EF4-FFF2-40B4-BE49-F238E27FC236}">
                <a16:creationId xmlns:a16="http://schemas.microsoft.com/office/drawing/2014/main" id="{C4E65F0F-CC50-2057-2504-519D8B4705CF}"/>
              </a:ext>
            </a:extLst>
          </p:cNvPr>
          <p:cNvSpPr>
            <a:spLocks noGrp="1"/>
          </p:cNvSpPr>
          <p:nvPr/>
        </p:nvSpPr>
        <p:spPr>
          <a:xfrm>
            <a:off x="8001205" y="4818055"/>
            <a:ext cx="415498" cy="369332"/>
          </a:xfrm>
          <a:prstGeom prst="rect">
            <a:avLst/>
          </a:prstGeom>
          <a:noFill/>
        </p:spPr>
        <p:txBody>
          <a:bodyPr wrap="none">
            <a:spAutoFit/>
          </a:bodyPr>
          <a:lstStyle/>
          <a:p>
            <a:r>
              <a:rPr b="1">
                <a:solidFill>
                  <a:srgbClr val="FF0000"/>
                </a:solidFill>
              </a:rPr>
              <a:t>○</a:t>
            </a:r>
          </a:p>
        </p:txBody>
      </p:sp>
    </p:spTree>
    <p:extLst>
      <p:ext uri="{BB962C8B-B14F-4D97-AF65-F5344CB8AC3E}">
        <p14:creationId xmlns:p14="http://schemas.microsoft.com/office/powerpoint/2010/main" val="2968016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E4C036-3F18-6E1D-162E-A82FAD22AE36}"/>
              </a:ext>
            </a:extLst>
          </p:cNvPr>
          <p:cNvSpPr>
            <a:spLocks noGrp="1"/>
          </p:cNvSpPr>
          <p:nvPr>
            <p:ph type="title"/>
          </p:nvPr>
        </p:nvSpPr>
        <p:spPr/>
        <p:txBody>
          <a:bodyPr/>
          <a:lstStyle/>
          <a:p>
            <a:r>
              <a:rPr>
                <a:latin typeface="HGMinchoE"/>
                <a:ea typeface="HGMinchoE"/>
                <a:cs typeface="HGMinchoE"/>
              </a:rPr>
              <a:t>名古屋全件から個人単位のトリップチェーンを復元</a:t>
            </a:r>
          </a:p>
        </p:txBody>
      </p:sp>
      <p:sp>
        <p:nvSpPr>
          <p:cNvPr id="4" name="日付プレースホルダー 3">
            <a:extLst>
              <a:ext uri="{FF2B5EF4-FFF2-40B4-BE49-F238E27FC236}">
                <a16:creationId xmlns:a16="http://schemas.microsoft.com/office/drawing/2014/main" id="{1C4FBD14-DE56-0D3B-4F8B-C604B1070FBF}"/>
              </a:ext>
            </a:extLst>
          </p:cNvPr>
          <p:cNvSpPr>
            <a:spLocks noGrp="1"/>
          </p:cNvSpPr>
          <p:nvPr>
            <p:ph type="dt" idx="10"/>
          </p:nvPr>
        </p:nvSpPr>
        <p:spPr/>
        <p:txBody>
          <a:bodyPr/>
          <a:lstStyle/>
          <a:p>
            <a:r>
              <a:t>2026/8</a:t>
            </a:r>
          </a:p>
        </p:txBody>
      </p:sp>
      <p:sp>
        <p:nvSpPr>
          <p:cNvPr id="13" name="フッター プレースホルダー 12">
            <a:extLst>
              <a:ext uri="{FF2B5EF4-FFF2-40B4-BE49-F238E27FC236}">
                <a16:creationId xmlns:a16="http://schemas.microsoft.com/office/drawing/2014/main" id="{1A8E4A53-370A-7A19-FA44-D6158DDE1CE2}"/>
              </a:ext>
            </a:extLst>
          </p:cNvPr>
          <p:cNvSpPr>
            <a:spLocks noGrp="1"/>
          </p:cNvSpPr>
          <p:nvPr>
            <p:ph type="ftr" idx="11"/>
          </p:nvPr>
        </p:nvSpPr>
        <p:spPr/>
        <p:txBody>
          <a:bodyPr/>
          <a:lstStyle/>
          <a:p>
            <a:r>
              <a:t>関本・中居研究室</a:t>
            </a:r>
          </a:p>
        </p:txBody>
      </p:sp>
      <p:sp>
        <p:nvSpPr>
          <p:cNvPr id="15" name="スライド番号プレースホルダー 14">
            <a:extLst>
              <a:ext uri="{FF2B5EF4-FFF2-40B4-BE49-F238E27FC236}">
                <a16:creationId xmlns:a16="http://schemas.microsoft.com/office/drawing/2014/main" id="{93A80ED0-0708-2A89-E5DF-4884CAD76733}"/>
              </a:ext>
            </a:extLst>
          </p:cNvPr>
          <p:cNvSpPr>
            <a:spLocks noGrp="1"/>
          </p:cNvSpPr>
          <p:nvPr>
            <p:ph type="sldNum" idx="12"/>
          </p:nvPr>
        </p:nvSpPr>
        <p:spPr/>
        <p:txBody>
          <a:bodyPr/>
          <a:lstStyle/>
          <a:p>
            <a:fld id="{202359C0-8A7A-196E-DD58-8E6569619F09}" type="slidenum">
              <a:rPr/>
              <a:t>3</a:t>
            </a:fld>
            <a:endParaRPr/>
          </a:p>
        </p:txBody>
      </p:sp>
      <p:graphicFrame>
        <p:nvGraphicFramePr>
          <p:cNvPr id="21" name="表 5"/>
          <p:cNvGraphicFramePr/>
          <p:nvPr/>
        </p:nvGraphicFramePr>
        <p:xfrm>
          <a:off x="850556" y="2438890"/>
          <a:ext cx="10515600" cy="3024149"/>
        </p:xfrm>
        <a:graphic>
          <a:graphicData uri="http://schemas.openxmlformats.org/drawingml/2006/table">
            <a:tbl>
              <a:tblPr firstRow="1" bandRow="1">
                <a:effectLst>
                  <a:outerShdw blurRad="50800" dist="38100" dir="8100000" algn="tr" rotWithShape="0">
                    <a:prstClr val="black">
                      <a:alpha val="40000"/>
                    </a:prstClr>
                  </a:outerShdw>
                </a:effectLst>
                <a:tableStyleId>{F5AB1C69-6EDB-4FF4-983F-18BD219EF322}</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450050">
                <a:tc>
                  <a:txBody>
                    <a:bodyPr/>
                    <a:lstStyle/>
                    <a:p>
                      <a:pPr algn="ctr">
                        <a:buNone/>
                      </a:pPr>
                      <a:r>
                        <a:rPr sz="1600"/>
                        <a:t>工程</a:t>
                      </a:r>
                    </a:p>
                  </a:txBody>
                  <a:tcPr anchor="ctr">
                    <a:solidFill>
                      <a:srgbClr val="0E2741"/>
                    </a:solidFill>
                  </a:tcPr>
                </a:tc>
                <a:tc>
                  <a:txBody>
                    <a:bodyPr/>
                    <a:lstStyle/>
                    <a:p>
                      <a:pPr algn="ctr">
                        <a:buNone/>
                      </a:pPr>
                      <a:r>
                        <a:rPr sz="1600"/>
                        <a:t>実行結果</a:t>
                      </a:r>
                    </a:p>
                  </a:txBody>
                  <a:tcPr anchor="ctr">
                    <a:solidFill>
                      <a:srgbClr val="0E2741"/>
                    </a:solidFill>
                  </a:tcPr>
                </a:tc>
                <a:tc>
                  <a:txBody>
                    <a:bodyPr/>
                    <a:lstStyle/>
                    <a:p>
                      <a:pPr algn="ctr">
                        <a:buNone/>
                      </a:pPr>
                      <a:r>
                        <a:rPr sz="1600"/>
                        <a:t>研究上の意味</a:t>
                      </a:r>
                    </a:p>
                  </a:txBody>
                  <a:tcPr anchor="ctr">
                    <a:solidFill>
                      <a:srgbClr val="0E2741"/>
                    </a:solidFill>
                  </a:tcPr>
                </a:tc>
                <a:extLst>
                  <a:ext uri="{0D108BD9-81ED-4DB2-BD59-A6C34878D82A}">
                    <a16:rowId xmlns:a16="http://schemas.microsoft.com/office/drawing/2014/main" val="10000"/>
                  </a:ext>
                </a:extLst>
              </a:tr>
              <a:tr h="858033">
                <a:tc>
                  <a:txBody>
                    <a:bodyPr/>
                    <a:lstStyle/>
                    <a:p>
                      <a:pPr algn="l">
                        <a:buNone/>
                      </a:pPr>
                      <a:r>
                        <a:rPr b="0"/>
                        <a:t>トリップチェーン</a:t>
                      </a:r>
                    </a:p>
                  </a:txBody>
                  <a:tcPr anchor="ctr"/>
                </a:tc>
                <a:tc>
                  <a:txBody>
                    <a:bodyPr/>
                    <a:lstStyle/>
                    <a:p>
                      <a:r>
                        <a:rPr sz="1400" b="0"/>
                        <a:t>7,456,341件</a:t>
                      </a:r>
                    </a:p>
                    <a:p>
                      <a:r>
                        <a:rPr sz="1400" b="0"/>
                        <a:t>2,142,174人</a:t>
                      </a:r>
                    </a:p>
                  </a:txBody>
                  <a:tcPr anchor="ctr"/>
                </a:tc>
                <a:tc>
                  <a:txBody>
                    <a:bodyPr/>
                    <a:lstStyle/>
                    <a:p>
                      <a:r>
                        <a:rPr sz="1400" b="0"/>
                        <a:t>人物内の順序と前後活動を復元</a:t>
                      </a:r>
                    </a:p>
                  </a:txBody>
                  <a:tcPr anchor="ctr"/>
                </a:tc>
                <a:extLst>
                  <a:ext uri="{0D108BD9-81ED-4DB2-BD59-A6C34878D82A}">
                    <a16:rowId xmlns:a16="http://schemas.microsoft.com/office/drawing/2014/main" val="10001"/>
                  </a:ext>
                </a:extLst>
              </a:tr>
              <a:tr h="858033">
                <a:tc>
                  <a:txBody>
                    <a:bodyPr/>
                    <a:lstStyle/>
                    <a:p>
                      <a:pPr algn="l">
                        <a:buNone/>
                      </a:pPr>
                      <a:r>
                        <a:t>品質レイヤー</a:t>
                      </a:r>
                    </a:p>
                  </a:txBody>
                  <a:tcPr anchor="ctr"/>
                </a:tc>
                <a:tc>
                  <a:txBody>
                    <a:bodyPr/>
                    <a:lstStyle/>
                    <a:p>
                      <a:r>
                        <a:rPr sz="1400"/>
                        <a:t>有効7,407,657件</a:t>
                      </a:r>
                    </a:p>
                    <a:p>
                      <a:r>
                        <a:rPr sz="1400"/>
                        <a:t>3,038,868系列</a:t>
                      </a:r>
                    </a:p>
                  </a:txBody>
                  <a:tcPr anchor="ctr"/>
                </a:tc>
                <a:tc>
                  <a:txBody>
                    <a:bodyPr/>
                    <a:lstStyle/>
                    <a:p>
                      <a:r>
                        <a:rPr sz="1400"/>
                        <a:t>範囲外時刻を除外</a:t>
                      </a:r>
                    </a:p>
                    <a:p>
                      <a:r>
                        <a:rPr sz="1400"/>
                        <a:t>200m超で系列を分割</a:t>
                      </a:r>
                    </a:p>
                  </a:txBody>
                  <a:tcPr anchor="ctr"/>
                </a:tc>
                <a:extLst>
                  <a:ext uri="{0D108BD9-81ED-4DB2-BD59-A6C34878D82A}">
                    <a16:rowId xmlns:a16="http://schemas.microsoft.com/office/drawing/2014/main" val="10002"/>
                  </a:ext>
                </a:extLst>
              </a:tr>
              <a:tr h="858033">
                <a:tc>
                  <a:txBody>
                    <a:bodyPr/>
                    <a:lstStyle/>
                    <a:p>
                      <a:pPr algn="l">
                        <a:buNone/>
                      </a:pPr>
                      <a:r>
                        <a:t>商業プロファイル</a:t>
                      </a:r>
                    </a:p>
                  </a:txBody>
                  <a:tcPr anchor="ctr"/>
                </a:tc>
                <a:tc>
                  <a:txBody>
                    <a:bodyPr/>
                    <a:lstStyle/>
                    <a:p>
                      <a:r>
                        <a:rPr sz="1400" b="0"/>
                        <a:t>1,532,205件</a:t>
                      </a:r>
                    </a:p>
                    <a:p>
                      <a:r>
                        <a:rPr sz="1400" b="0"/>
                        <a:t>750,831人</a:t>
                      </a:r>
                    </a:p>
                  </a:txBody>
                  <a:tcPr anchor="ctr"/>
                </a:tc>
                <a:tc>
                  <a:txBody>
                    <a:bodyPr/>
                    <a:lstStyle/>
                    <a:p>
                      <a:r>
                        <a:rPr sz="1400"/>
                        <a:t>全市と参照施設の構成比を比較可能</a:t>
                      </a:r>
                    </a:p>
                  </a:txBody>
                  <a:tcPr anchor="ctr"/>
                </a:tc>
                <a:extLst>
                  <a:ext uri="{0D108BD9-81ED-4DB2-BD59-A6C34878D82A}">
                    <a16:rowId xmlns:a16="http://schemas.microsoft.com/office/drawing/2014/main" val="10003"/>
                  </a:ext>
                </a:extLst>
              </a:tr>
            </a:tbl>
          </a:graphicData>
        </a:graphic>
      </p:graphicFrame>
      <p:sp>
        <p:nvSpPr>
          <p:cNvPr id="7" name="テキスト ボックス 6">
            <a:extLst>
              <a:ext uri="{FF2B5EF4-FFF2-40B4-BE49-F238E27FC236}">
                <a16:creationId xmlns:a16="http://schemas.microsoft.com/office/drawing/2014/main" id="{6263B8DF-571D-45A7-6AE0-08068847513A}"/>
              </a:ext>
            </a:extLst>
          </p:cNvPr>
          <p:cNvSpPr>
            <a:spLocks noGrp="1"/>
          </p:cNvSpPr>
          <p:nvPr/>
        </p:nvSpPr>
        <p:spPr>
          <a:xfrm>
            <a:off x="838200" y="1345903"/>
            <a:ext cx="10326470" cy="646331"/>
          </a:xfrm>
          <a:prstGeom prst="rect">
            <a:avLst/>
          </a:prstGeom>
          <a:noFill/>
        </p:spPr>
        <p:txBody>
          <a:bodyPr wrap="square">
            <a:spAutoFit/>
          </a:bodyPr>
          <a:lstStyle/>
          <a:p>
            <a:r>
              <a:rPr b="1"/>
              <a:t>745.6万件をSQLiteで処理し、元データを保持したまま分析可能な個人系列と商業利用者基準人口を整備した。</a:t>
            </a:r>
          </a:p>
        </p:txBody>
      </p:sp>
    </p:spTree>
    <p:extLst>
      <p:ext uri="{BB962C8B-B14F-4D97-AF65-F5344CB8AC3E}">
        <p14:creationId xmlns:p14="http://schemas.microsoft.com/office/powerpoint/2010/main" val="3587152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ounded Rectangle 5">
            <a:extLst>
              <a:ext uri="{FF2B5EF4-FFF2-40B4-BE49-F238E27FC236}">
                <a16:creationId xmlns:a16="http://schemas.microsoft.com/office/drawing/2014/main" id="{04534713-5FD4-E535-AF63-0AD42356738F}"/>
              </a:ext>
            </a:extLst>
          </p:cNvPr>
          <p:cNvSpPr>
            <a:spLocks noGrp="1"/>
          </p:cNvSpPr>
          <p:nvPr/>
        </p:nvSpPr>
        <p:spPr>
          <a:xfrm>
            <a:off x="4038600" y="5013346"/>
            <a:ext cx="4278823" cy="1359230"/>
          </a:xfrm>
          <a:prstGeom prst="roundRect">
            <a:avLst>
              <a:gd name="adj" fmla="val 9000"/>
            </a:avLst>
          </a:prstGeom>
          <a:solidFill>
            <a:srgbClr val="BACCEC">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タイトル 1">
            <a:extLst>
              <a:ext uri="{FF2B5EF4-FFF2-40B4-BE49-F238E27FC236}">
                <a16:creationId xmlns:a16="http://schemas.microsoft.com/office/drawing/2014/main" id="{3B63DA6A-2541-AA53-4C4A-D8D3A7CC69B4}"/>
              </a:ext>
            </a:extLst>
          </p:cNvPr>
          <p:cNvSpPr>
            <a:spLocks noGrp="1"/>
          </p:cNvSpPr>
          <p:nvPr>
            <p:ph type="title"/>
          </p:nvPr>
        </p:nvSpPr>
        <p:spPr>
          <a:xfrm>
            <a:off x="200344" y="1"/>
            <a:ext cx="11798035" cy="908719"/>
          </a:xfrm>
        </p:spPr>
        <p:txBody>
          <a:bodyPr/>
          <a:lstStyle/>
          <a:p>
            <a:r>
              <a:t>潜在来訪者を選び、目的地と後続出発地を連続して置換</a:t>
            </a:r>
          </a:p>
        </p:txBody>
      </p:sp>
      <p:sp>
        <p:nvSpPr>
          <p:cNvPr id="4" name="日付プレースホルダー 3">
            <a:extLst>
              <a:ext uri="{FF2B5EF4-FFF2-40B4-BE49-F238E27FC236}">
                <a16:creationId xmlns:a16="http://schemas.microsoft.com/office/drawing/2014/main" id="{F14F3E9F-54B5-737E-B597-51F3EC21C135}"/>
              </a:ext>
            </a:extLst>
          </p:cNvPr>
          <p:cNvSpPr>
            <a:spLocks noGrp="1"/>
          </p:cNvSpPr>
          <p:nvPr>
            <p:ph type="dt" idx="10"/>
          </p:nvPr>
        </p:nvSpPr>
        <p:spPr/>
        <p:txBody>
          <a:bodyPr/>
          <a:lstStyle/>
          <a:p>
            <a:r>
              <a:t>2026/8</a:t>
            </a:r>
          </a:p>
        </p:txBody>
      </p:sp>
      <p:sp>
        <p:nvSpPr>
          <p:cNvPr id="5" name="フッター プレースホルダー 4">
            <a:extLst>
              <a:ext uri="{FF2B5EF4-FFF2-40B4-BE49-F238E27FC236}">
                <a16:creationId xmlns:a16="http://schemas.microsoft.com/office/drawing/2014/main" id="{6EFC864B-0371-E5D8-569D-87B8300C193C}"/>
              </a:ext>
            </a:extLst>
          </p:cNvPr>
          <p:cNvSpPr>
            <a:spLocks noGrp="1"/>
          </p:cNvSpPr>
          <p:nvPr>
            <p:ph type="ftr" idx="11"/>
          </p:nvPr>
        </p:nvSpPr>
        <p:spPr/>
        <p:txBody>
          <a:bodyPr/>
          <a:lstStyle/>
          <a:p>
            <a:r>
              <a:t>関本・中居研究室</a:t>
            </a:r>
          </a:p>
        </p:txBody>
      </p:sp>
      <p:sp>
        <p:nvSpPr>
          <p:cNvPr id="6" name="スライド番号プレースホルダー 5">
            <a:extLst>
              <a:ext uri="{FF2B5EF4-FFF2-40B4-BE49-F238E27FC236}">
                <a16:creationId xmlns:a16="http://schemas.microsoft.com/office/drawing/2014/main" id="{A73D1B36-91BF-80AE-0546-0E2B326B1761}"/>
              </a:ext>
            </a:extLst>
          </p:cNvPr>
          <p:cNvSpPr>
            <a:spLocks noGrp="1"/>
          </p:cNvSpPr>
          <p:nvPr>
            <p:ph type="sldNum" idx="12"/>
          </p:nvPr>
        </p:nvSpPr>
        <p:spPr/>
        <p:txBody>
          <a:bodyPr/>
          <a:lstStyle/>
          <a:p>
            <a:fld id="{EFD6AB9A-5F9E-5F59-51AB-3C8734130965}" type="slidenum">
              <a:rPr/>
              <a:t>4</a:t>
            </a:fld>
            <a:endParaRPr/>
          </a:p>
        </p:txBody>
      </p:sp>
      <p:sp>
        <p:nvSpPr>
          <p:cNvPr id="120" name="Rounded Rectangle 16">
            <a:extLst>
              <a:ext uri="{FF2B5EF4-FFF2-40B4-BE49-F238E27FC236}">
                <a16:creationId xmlns:a16="http://schemas.microsoft.com/office/drawing/2014/main" id="{0C214181-2DAE-B023-2CC2-43398DEAD776}"/>
              </a:ext>
            </a:extLst>
          </p:cNvPr>
          <p:cNvSpPr>
            <a:spLocks noGrp="1"/>
          </p:cNvSpPr>
          <p:nvPr/>
        </p:nvSpPr>
        <p:spPr>
          <a:xfrm>
            <a:off x="4291411" y="1986186"/>
            <a:ext cx="1298448" cy="256032"/>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1" name="TextBox 17">
            <a:extLst>
              <a:ext uri="{FF2B5EF4-FFF2-40B4-BE49-F238E27FC236}">
                <a16:creationId xmlns:a16="http://schemas.microsoft.com/office/drawing/2014/main" id="{579DFA51-9248-DE3F-2A60-EC202A49DC80}"/>
              </a:ext>
            </a:extLst>
          </p:cNvPr>
          <p:cNvSpPr>
            <a:spLocks noGrp="1"/>
          </p:cNvSpPr>
          <p:nvPr/>
        </p:nvSpPr>
        <p:spPr>
          <a:xfrm>
            <a:off x="4611451" y="1980090"/>
            <a:ext cx="676656" cy="286512"/>
          </a:xfrm>
          <a:prstGeom prst="rect">
            <a:avLst/>
          </a:prstGeom>
          <a:noFill/>
          <a:ln>
            <a:noFill/>
          </a:ln>
        </p:spPr>
        <p:txBody>
          <a:bodyPr wrap="square" lIns="36576" tIns="36576" rIns="36576" bIns="36576" anchor="t">
            <a:spAutoFit/>
          </a:bodyPr>
          <a:lstStyle/>
          <a:p>
            <a:pPr algn="ctr">
              <a:buNone/>
            </a:pPr>
            <a:r>
              <a:rPr sz="1400" b="1">
                <a:solidFill>
                  <a:srgbClr val="FFFFFF"/>
                </a:solidFill>
                <a:latin typeface="Noto Sans CJK JP"/>
                <a:ea typeface="Noto Sans CJK JP"/>
                <a:cs typeface="Noto Sans CJK JP"/>
              </a:rPr>
              <a:t>before</a:t>
            </a:r>
          </a:p>
        </p:txBody>
      </p:sp>
      <p:sp>
        <p:nvSpPr>
          <p:cNvPr id="123" name="Rounded Rectangle 18">
            <a:extLst>
              <a:ext uri="{FF2B5EF4-FFF2-40B4-BE49-F238E27FC236}">
                <a16:creationId xmlns:a16="http://schemas.microsoft.com/office/drawing/2014/main" id="{DAB5462A-7B90-F602-155A-8C83691DE7C7}"/>
              </a:ext>
            </a:extLst>
          </p:cNvPr>
          <p:cNvSpPr>
            <a:spLocks noGrp="1"/>
          </p:cNvSpPr>
          <p:nvPr/>
        </p:nvSpPr>
        <p:spPr>
          <a:xfrm>
            <a:off x="6728883" y="1989978"/>
            <a:ext cx="1298448" cy="256032"/>
          </a:xfrm>
          <a:prstGeom prst="roundRect">
            <a:avLst>
              <a:gd name="adj" fmla="val 9000"/>
            </a:avLst>
          </a:prstGeom>
          <a:solidFill>
            <a:srgbClr val="D94C3D"/>
          </a:solidFill>
          <a:ln w="12700">
            <a:solidFill>
              <a:srgbClr val="D94C3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4" name="TextBox 19">
            <a:extLst>
              <a:ext uri="{FF2B5EF4-FFF2-40B4-BE49-F238E27FC236}">
                <a16:creationId xmlns:a16="http://schemas.microsoft.com/office/drawing/2014/main" id="{FE33D435-3BA5-5651-ED20-032CFEA48A03}"/>
              </a:ext>
            </a:extLst>
          </p:cNvPr>
          <p:cNvSpPr>
            <a:spLocks noGrp="1"/>
          </p:cNvSpPr>
          <p:nvPr/>
        </p:nvSpPr>
        <p:spPr>
          <a:xfrm>
            <a:off x="7076355" y="1980834"/>
            <a:ext cx="640080" cy="286512"/>
          </a:xfrm>
          <a:prstGeom prst="rect">
            <a:avLst/>
          </a:prstGeom>
          <a:noFill/>
          <a:ln>
            <a:noFill/>
          </a:ln>
        </p:spPr>
        <p:txBody>
          <a:bodyPr wrap="square" lIns="36576" tIns="36576" rIns="36576" bIns="36576" anchor="t">
            <a:spAutoFit/>
          </a:bodyPr>
          <a:lstStyle/>
          <a:p>
            <a:pPr algn="ctr">
              <a:buNone/>
            </a:pPr>
            <a:r>
              <a:rPr sz="1400" b="1">
                <a:solidFill>
                  <a:srgbClr val="FFFFFF"/>
                </a:solidFill>
                <a:latin typeface="Noto Sans CJK JP"/>
                <a:ea typeface="Noto Sans CJK JP"/>
                <a:cs typeface="Noto Sans CJK JP"/>
              </a:rPr>
              <a:t>after</a:t>
            </a:r>
          </a:p>
        </p:txBody>
      </p:sp>
      <p:sp>
        <p:nvSpPr>
          <p:cNvPr id="127" name="Rounded Rectangle 5">
            <a:extLst>
              <a:ext uri="{FF2B5EF4-FFF2-40B4-BE49-F238E27FC236}">
                <a16:creationId xmlns:a16="http://schemas.microsoft.com/office/drawing/2014/main" id="{5D72920D-2AA5-C468-7F6C-70244EC9B407}"/>
              </a:ext>
            </a:extLst>
          </p:cNvPr>
          <p:cNvSpPr>
            <a:spLocks noGrp="1"/>
          </p:cNvSpPr>
          <p:nvPr/>
        </p:nvSpPr>
        <p:spPr>
          <a:xfrm>
            <a:off x="8603487" y="2270138"/>
            <a:ext cx="3369872" cy="1246574"/>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9" name="TextBox 7">
            <a:extLst>
              <a:ext uri="{FF2B5EF4-FFF2-40B4-BE49-F238E27FC236}">
                <a16:creationId xmlns:a16="http://schemas.microsoft.com/office/drawing/2014/main" id="{9CD89372-741A-0D06-04DB-0F42B6DF20B4}"/>
              </a:ext>
            </a:extLst>
          </p:cNvPr>
          <p:cNvSpPr>
            <a:spLocks noGrp="1"/>
          </p:cNvSpPr>
          <p:nvPr/>
        </p:nvSpPr>
        <p:spPr>
          <a:xfrm>
            <a:off x="9448726" y="2297151"/>
            <a:ext cx="1466165" cy="286036"/>
          </a:xfrm>
          <a:prstGeom prst="roundRect">
            <a:avLst/>
          </a:prstGeom>
          <a:noFill/>
          <a:ln>
            <a:noFill/>
          </a:ln>
        </p:spPr>
        <p:txBody>
          <a:bodyPr wrap="square" lIns="36576" tIns="36576" rIns="36576" bIns="36576" anchor="t">
            <a:spAutoFit/>
          </a:bodyPr>
          <a:lstStyle/>
          <a:p>
            <a:pPr algn="ctr">
              <a:buNone/>
            </a:pPr>
            <a:r>
              <a:rPr sz="1200" b="1">
                <a:solidFill>
                  <a:srgbClr val="0B2B5B"/>
                </a:solidFill>
                <a:latin typeface="Noto Sans CJK JP"/>
                <a:ea typeface="Noto Sans CJK JP"/>
                <a:cs typeface="Noto Sans CJK JP"/>
              </a:rPr>
              <a:t>1：候補抽出</a:t>
            </a:r>
          </a:p>
        </p:txBody>
      </p:sp>
      <p:sp>
        <p:nvSpPr>
          <p:cNvPr id="132" name="Rounded Rectangle 5">
            <a:extLst>
              <a:ext uri="{FF2B5EF4-FFF2-40B4-BE49-F238E27FC236}">
                <a16:creationId xmlns:a16="http://schemas.microsoft.com/office/drawing/2014/main" id="{BE80DE9F-DFD9-28A1-13B5-28A18107182F}"/>
              </a:ext>
            </a:extLst>
          </p:cNvPr>
          <p:cNvSpPr>
            <a:spLocks noGrp="1"/>
          </p:cNvSpPr>
          <p:nvPr/>
        </p:nvSpPr>
        <p:spPr>
          <a:xfrm>
            <a:off x="8615273" y="3555465"/>
            <a:ext cx="3369872" cy="1173569"/>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3" name="TextBox 7">
            <a:extLst>
              <a:ext uri="{FF2B5EF4-FFF2-40B4-BE49-F238E27FC236}">
                <a16:creationId xmlns:a16="http://schemas.microsoft.com/office/drawing/2014/main" id="{370A8F6C-0E05-4F01-0270-11721816DAD6}"/>
              </a:ext>
            </a:extLst>
          </p:cNvPr>
          <p:cNvSpPr>
            <a:spLocks noGrp="1"/>
          </p:cNvSpPr>
          <p:nvPr/>
        </p:nvSpPr>
        <p:spPr>
          <a:xfrm>
            <a:off x="9105728" y="3565279"/>
            <a:ext cx="2341449" cy="286036"/>
          </a:xfrm>
          <a:prstGeom prst="roundRect">
            <a:avLst/>
          </a:prstGeom>
          <a:noFill/>
          <a:ln>
            <a:noFill/>
          </a:ln>
        </p:spPr>
        <p:txBody>
          <a:bodyPr wrap="square" lIns="36576" tIns="36576" rIns="36576" bIns="36576" anchor="t">
            <a:spAutoFit/>
          </a:bodyPr>
          <a:lstStyle/>
          <a:p>
            <a:pPr algn="ctr">
              <a:buNone/>
            </a:pPr>
            <a:r>
              <a:rPr sz="1200" b="1">
                <a:solidFill>
                  <a:srgbClr val="0B2B5B"/>
                </a:solidFill>
                <a:latin typeface="Noto Sans CJK JP"/>
                <a:ea typeface="Noto Sans CJK JP"/>
                <a:cs typeface="Noto Sans CJK JP"/>
              </a:rPr>
              <a:t>2：チェーン変更</a:t>
            </a:r>
          </a:p>
        </p:txBody>
      </p:sp>
      <p:sp>
        <p:nvSpPr>
          <p:cNvPr id="135" name="Rounded Rectangle 5">
            <a:extLst>
              <a:ext uri="{FF2B5EF4-FFF2-40B4-BE49-F238E27FC236}">
                <a16:creationId xmlns:a16="http://schemas.microsoft.com/office/drawing/2014/main" id="{DC19770B-343B-23B1-97C1-541A66451B07}"/>
              </a:ext>
            </a:extLst>
          </p:cNvPr>
          <p:cNvSpPr>
            <a:spLocks noGrp="1"/>
          </p:cNvSpPr>
          <p:nvPr/>
        </p:nvSpPr>
        <p:spPr>
          <a:xfrm>
            <a:off x="8628508" y="4779552"/>
            <a:ext cx="3369872" cy="1593024"/>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6" name="TextBox 7">
            <a:extLst>
              <a:ext uri="{FF2B5EF4-FFF2-40B4-BE49-F238E27FC236}">
                <a16:creationId xmlns:a16="http://schemas.microsoft.com/office/drawing/2014/main" id="{D7085D2D-45D2-43BF-CEF4-A39AC8E3B3C3}"/>
              </a:ext>
            </a:extLst>
          </p:cNvPr>
          <p:cNvSpPr>
            <a:spLocks noGrp="1"/>
          </p:cNvSpPr>
          <p:nvPr/>
        </p:nvSpPr>
        <p:spPr>
          <a:xfrm>
            <a:off x="9108420" y="4805593"/>
            <a:ext cx="2341449" cy="286036"/>
          </a:xfrm>
          <a:prstGeom prst="roundRect">
            <a:avLst/>
          </a:prstGeom>
          <a:noFill/>
          <a:ln>
            <a:noFill/>
          </a:ln>
        </p:spPr>
        <p:txBody>
          <a:bodyPr wrap="square" lIns="36576" tIns="36576" rIns="36576" bIns="36576" anchor="t">
            <a:spAutoFit/>
          </a:bodyPr>
          <a:lstStyle/>
          <a:p>
            <a:pPr algn="ctr">
              <a:buNone/>
            </a:pPr>
            <a:r>
              <a:rPr sz="1200" b="1">
                <a:solidFill>
                  <a:srgbClr val="0B2B5B"/>
                </a:solidFill>
                <a:latin typeface="Noto Sans CJK JP"/>
                <a:ea typeface="Noto Sans CJK JP"/>
                <a:cs typeface="Noto Sans CJK JP"/>
              </a:rPr>
              <a:t>3：整合性検証</a:t>
            </a:r>
          </a:p>
        </p:txBody>
      </p:sp>
      <p:sp>
        <p:nvSpPr>
          <p:cNvPr id="138" name="コンテンツ プレースホルダー 2">
            <a:extLst>
              <a:ext uri="{FF2B5EF4-FFF2-40B4-BE49-F238E27FC236}">
                <a16:creationId xmlns:a16="http://schemas.microsoft.com/office/drawing/2014/main" id="{F934E9E5-4E99-6839-09C5-25FC5181C9AB}"/>
              </a:ext>
            </a:extLst>
          </p:cNvPr>
          <p:cNvSpPr>
            <a:spLocks noGrp="1"/>
          </p:cNvSpPr>
          <p:nvPr/>
        </p:nvSpPr>
        <p:spPr>
          <a:xfrm>
            <a:off x="8867956" y="1980090"/>
            <a:ext cx="2821695" cy="404645"/>
          </a:xfrm>
          <a:prstGeom prst="rect">
            <a:avLst/>
          </a:prstGeom>
        </p:spPr>
        <p:txBody>
          <a:bodyPr vert="horz" lIns="91440" tIns="45720" rIns="91440" bIns="45720">
            <a:normAutofit/>
          </a:bodyPr>
          <a:lst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gn="ctr">
              <a:buNone/>
            </a:pPr>
            <a:r>
              <a:rPr sz="1600" b="1"/>
              <a:t>処理と検証結果</a:t>
            </a:r>
          </a:p>
        </p:txBody>
      </p:sp>
      <p:pic>
        <p:nvPicPr>
          <p:cNvPr id="375" name="図 124"/>
          <p:cNvPicPr>
            <a:picLocks noChangeAspect="1"/>
          </p:cNvPicPr>
          <p:nvPr/>
        </p:nvPicPr>
        <p:blipFill>
          <a:blip r:embed="rId3"/>
          <a:srcRect l="17000" r="17000"/>
          <a:stretch/>
        </p:blipFill>
        <p:spPr>
          <a:xfrm>
            <a:off x="4065224" y="2300786"/>
            <a:ext cx="1866616" cy="2650684"/>
          </a:xfrm>
          <a:prstGeom prst="rect">
            <a:avLst/>
          </a:prstGeom>
        </p:spPr>
      </p:pic>
      <p:cxnSp>
        <p:nvCxnSpPr>
          <p:cNvPr id="376" name="直線矢印コネクタ 14"/>
          <p:cNvCxnSpPr/>
          <p:nvPr/>
        </p:nvCxnSpPr>
        <p:spPr>
          <a:xfrm flipV="1">
            <a:off x="4273014" y="3421964"/>
            <a:ext cx="555465" cy="90010"/>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77" name="直線矢印コネクタ 18"/>
          <p:cNvCxnSpPr/>
          <p:nvPr/>
        </p:nvCxnSpPr>
        <p:spPr>
          <a:xfrm flipV="1">
            <a:off x="4382472" y="4338992"/>
            <a:ext cx="558163" cy="115429"/>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78" name="直線矢印コネクタ 21"/>
          <p:cNvCxnSpPr/>
          <p:nvPr/>
        </p:nvCxnSpPr>
        <p:spPr>
          <a:xfrm>
            <a:off x="4850625" y="3421964"/>
            <a:ext cx="138764" cy="917028"/>
          </a:xfrm>
          <a:prstGeom prst="straightConnector1">
            <a:avLst/>
          </a:prstGeom>
          <a:ln w="31750">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79" name="直線矢印コネクタ 24"/>
          <p:cNvCxnSpPr/>
          <p:nvPr/>
        </p:nvCxnSpPr>
        <p:spPr>
          <a:xfrm flipV="1">
            <a:off x="5057779" y="4361464"/>
            <a:ext cx="558163" cy="115429"/>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80" name="直線矢印コネクタ 25"/>
          <p:cNvCxnSpPr/>
          <p:nvPr/>
        </p:nvCxnSpPr>
        <p:spPr>
          <a:xfrm>
            <a:off x="4693090" y="2763817"/>
            <a:ext cx="95752" cy="610791"/>
          </a:xfrm>
          <a:prstGeom prst="straightConnector1">
            <a:avLst/>
          </a:prstGeom>
          <a:ln w="15875">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81" name="直線矢印コネクタ 28"/>
          <p:cNvCxnSpPr/>
          <p:nvPr/>
        </p:nvCxnSpPr>
        <p:spPr>
          <a:xfrm>
            <a:off x="4509360" y="3957351"/>
            <a:ext cx="59313" cy="381641"/>
          </a:xfrm>
          <a:prstGeom prst="straightConnector1">
            <a:avLst/>
          </a:prstGeom>
          <a:ln w="12700">
            <a:headEnd type="triangle"/>
            <a:tailEnd type="triangle"/>
          </a:ln>
        </p:spPr>
        <p:style>
          <a:lnRef idx="2">
            <a:schemeClr val="accent4"/>
          </a:lnRef>
          <a:fillRef idx="0">
            <a:schemeClr val="accent4"/>
          </a:fillRef>
          <a:effectRef idx="1">
            <a:schemeClr val="accent4"/>
          </a:effectRef>
          <a:fontRef idx="minor">
            <a:schemeClr val="tx1"/>
          </a:fontRef>
        </p:style>
      </p:cxnSp>
      <p:pic>
        <p:nvPicPr>
          <p:cNvPr id="382" name="図 125"/>
          <p:cNvPicPr>
            <a:picLocks noChangeAspect="1"/>
          </p:cNvPicPr>
          <p:nvPr/>
        </p:nvPicPr>
        <p:blipFill>
          <a:blip r:embed="rId3"/>
          <a:srcRect l="17000" r="17000"/>
          <a:stretch/>
        </p:blipFill>
        <p:spPr>
          <a:xfrm>
            <a:off x="6439776" y="2308393"/>
            <a:ext cx="1871071" cy="2650684"/>
          </a:xfrm>
          <a:prstGeom prst="rect">
            <a:avLst/>
          </a:prstGeom>
        </p:spPr>
      </p:pic>
      <p:pic>
        <p:nvPicPr>
          <p:cNvPr id="383" name="図 30"/>
          <p:cNvPicPr>
            <a:picLocks noChangeAspect="1"/>
          </p:cNvPicPr>
          <p:nvPr/>
        </p:nvPicPr>
        <p:blipFill>
          <a:blip r:embed="rId3"/>
          <a:srcRect l="17000" r="17000"/>
          <a:stretch/>
        </p:blipFill>
        <p:spPr>
          <a:xfrm>
            <a:off x="6449821" y="2315306"/>
            <a:ext cx="1866616" cy="2650684"/>
          </a:xfrm>
          <a:prstGeom prst="rect">
            <a:avLst/>
          </a:prstGeom>
        </p:spPr>
      </p:pic>
      <p:cxnSp>
        <p:nvCxnSpPr>
          <p:cNvPr id="384" name="直線矢印コネクタ 31"/>
          <p:cNvCxnSpPr/>
          <p:nvPr/>
        </p:nvCxnSpPr>
        <p:spPr>
          <a:xfrm flipV="1">
            <a:off x="6657611" y="3436484"/>
            <a:ext cx="555465" cy="90010"/>
          </a:xfrm>
          <a:prstGeom prst="straightConnector1">
            <a:avLst/>
          </a:prstGeom>
          <a:ln w="41275">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85" name="直線矢印コネクタ 33"/>
          <p:cNvCxnSpPr/>
          <p:nvPr/>
        </p:nvCxnSpPr>
        <p:spPr>
          <a:xfrm flipV="1">
            <a:off x="6767069" y="4353512"/>
            <a:ext cx="558163" cy="115429"/>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86" name="直線矢印コネクタ 34"/>
          <p:cNvCxnSpPr/>
          <p:nvPr/>
        </p:nvCxnSpPr>
        <p:spPr>
          <a:xfrm>
            <a:off x="7235222" y="3436484"/>
            <a:ext cx="138764" cy="917028"/>
          </a:xfrm>
          <a:prstGeom prst="straightConnector1">
            <a:avLst/>
          </a:prstGeom>
          <a:ln w="25400">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87" name="直線矢印コネクタ 35"/>
          <p:cNvCxnSpPr/>
          <p:nvPr/>
        </p:nvCxnSpPr>
        <p:spPr>
          <a:xfrm flipV="1">
            <a:off x="7442376" y="4375984"/>
            <a:ext cx="558163" cy="115429"/>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88" name="直線矢印コネクタ 36"/>
          <p:cNvCxnSpPr/>
          <p:nvPr/>
        </p:nvCxnSpPr>
        <p:spPr>
          <a:xfrm>
            <a:off x="7077687" y="2778337"/>
            <a:ext cx="95752" cy="610791"/>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89" name="直線矢印コネクタ 37"/>
          <p:cNvCxnSpPr/>
          <p:nvPr/>
        </p:nvCxnSpPr>
        <p:spPr>
          <a:xfrm>
            <a:off x="6893957" y="3971871"/>
            <a:ext cx="59313" cy="381641"/>
          </a:xfrm>
          <a:prstGeom prst="straightConnector1">
            <a:avLst/>
          </a:prstGeom>
          <a:ln w="28575">
            <a:headEnd type="triangle"/>
            <a:tailEnd type="triangle"/>
          </a:ln>
        </p:spPr>
        <p:style>
          <a:lnRef idx="2">
            <a:schemeClr val="accent6"/>
          </a:lnRef>
          <a:fillRef idx="0">
            <a:schemeClr val="accent6"/>
          </a:fillRef>
          <a:effectRef idx="1">
            <a:schemeClr val="accent6"/>
          </a:effectRef>
          <a:fontRef idx="minor">
            <a:schemeClr val="tx1"/>
          </a:fontRef>
        </p:style>
      </p:cxnSp>
      <p:cxnSp>
        <p:nvCxnSpPr>
          <p:cNvPr id="390" name="直線矢印コネクタ 38"/>
          <p:cNvCxnSpPr/>
          <p:nvPr/>
        </p:nvCxnSpPr>
        <p:spPr>
          <a:xfrm>
            <a:off x="7001183" y="3512174"/>
            <a:ext cx="54089" cy="413628"/>
          </a:xfrm>
          <a:prstGeom prst="straightConnector1">
            <a:avLst/>
          </a:prstGeom>
          <a:ln w="28575">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pic>
        <p:nvPicPr>
          <p:cNvPr id="391" name="図 8"/>
          <p:cNvPicPr>
            <a:picLocks noChangeAspect="1"/>
          </p:cNvPicPr>
          <p:nvPr/>
        </p:nvPicPr>
        <p:blipFill>
          <a:blip r:embed="rId3"/>
          <a:srcRect l="17000" r="17000"/>
          <a:stretch/>
        </p:blipFill>
        <p:spPr>
          <a:xfrm>
            <a:off x="610833" y="2229703"/>
            <a:ext cx="2980346" cy="4100906"/>
          </a:xfrm>
          <a:prstGeom prst="rect">
            <a:avLst/>
          </a:prstGeom>
        </p:spPr>
      </p:pic>
      <p:sp>
        <p:nvSpPr>
          <p:cNvPr id="10" name="Oval 6">
            <a:extLst>
              <a:ext uri="{FF2B5EF4-FFF2-40B4-BE49-F238E27FC236}">
                <a16:creationId xmlns:a16="http://schemas.microsoft.com/office/drawing/2014/main" id="{5D1A83C5-59F3-44F6-5B47-C7C4D9801C58}"/>
              </a:ext>
            </a:extLst>
          </p:cNvPr>
          <p:cNvSpPr>
            <a:spLocks noGrp="1"/>
          </p:cNvSpPr>
          <p:nvPr/>
        </p:nvSpPr>
        <p:spPr>
          <a:xfrm>
            <a:off x="1395033" y="4382015"/>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1</a:t>
            </a:r>
          </a:p>
        </p:txBody>
      </p:sp>
      <p:sp>
        <p:nvSpPr>
          <p:cNvPr id="11" name="テキスト ボックス 10">
            <a:extLst>
              <a:ext uri="{FF2B5EF4-FFF2-40B4-BE49-F238E27FC236}">
                <a16:creationId xmlns:a16="http://schemas.microsoft.com/office/drawing/2014/main" id="{15092849-D5CB-7341-0B7A-8F9D35914DBF}"/>
              </a:ext>
            </a:extLst>
          </p:cNvPr>
          <p:cNvSpPr>
            <a:spLocks noGrp="1"/>
          </p:cNvSpPr>
          <p:nvPr/>
        </p:nvSpPr>
        <p:spPr>
          <a:xfrm>
            <a:off x="1400707" y="4554777"/>
            <a:ext cx="655431" cy="251706"/>
          </a:xfrm>
          <a:prstGeom prst="rect">
            <a:avLst/>
          </a:prstGeom>
          <a:noFill/>
        </p:spPr>
        <p:txBody>
          <a:bodyPr wrap="square">
            <a:spAutoFit/>
          </a:bodyPr>
          <a:lstStyle/>
          <a:p>
            <a:r>
              <a:rPr sz="1050"/>
              <a:t>敷地</a:t>
            </a:r>
          </a:p>
        </p:txBody>
      </p:sp>
      <p:sp>
        <p:nvSpPr>
          <p:cNvPr id="12" name="Oval 6">
            <a:extLst>
              <a:ext uri="{FF2B5EF4-FFF2-40B4-BE49-F238E27FC236}">
                <a16:creationId xmlns:a16="http://schemas.microsoft.com/office/drawing/2014/main" id="{3FCDAB7A-32FB-B4C7-4E85-8C25F7034447}"/>
              </a:ext>
            </a:extLst>
          </p:cNvPr>
          <p:cNvSpPr>
            <a:spLocks noGrp="1"/>
          </p:cNvSpPr>
          <p:nvPr/>
        </p:nvSpPr>
        <p:spPr>
          <a:xfrm>
            <a:off x="1018087" y="5150799"/>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3</a:t>
            </a:r>
          </a:p>
        </p:txBody>
      </p:sp>
      <p:sp>
        <p:nvSpPr>
          <p:cNvPr id="13" name="正方形/長方形 12">
            <a:extLst>
              <a:ext uri="{FF2B5EF4-FFF2-40B4-BE49-F238E27FC236}">
                <a16:creationId xmlns:a16="http://schemas.microsoft.com/office/drawing/2014/main" id="{7A165BEE-F2B5-388C-B581-015D837B3E5B}"/>
              </a:ext>
            </a:extLst>
          </p:cNvPr>
          <p:cNvSpPr>
            <a:spLocks noGrp="1"/>
          </p:cNvSpPr>
          <p:nvPr/>
        </p:nvSpPr>
        <p:spPr>
          <a:xfrm rot="21007099">
            <a:off x="1578926" y="3688029"/>
            <a:ext cx="371235" cy="512737"/>
          </a:xfrm>
          <a:prstGeom prst="rect">
            <a:avLst/>
          </a:pr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正方形/長方形 246">
            <a:extLst>
              <a:ext uri="{FF2B5EF4-FFF2-40B4-BE49-F238E27FC236}">
                <a16:creationId xmlns:a16="http://schemas.microsoft.com/office/drawing/2014/main" id="{870CFBE2-C0E5-F294-4005-31FFEDC8EAB5}"/>
              </a:ext>
            </a:extLst>
          </p:cNvPr>
          <p:cNvSpPr>
            <a:spLocks noGrp="1"/>
          </p:cNvSpPr>
          <p:nvPr/>
        </p:nvSpPr>
        <p:spPr>
          <a:xfrm rot="21007099">
            <a:off x="1410302" y="3733828"/>
            <a:ext cx="239633" cy="1193081"/>
          </a:xfrm>
          <a:custGeom>
            <a:avLst/>
            <a:gdLst/>
            <a:ahLst/>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正方形/長方形 246">
            <a:extLst>
              <a:ext uri="{FF2B5EF4-FFF2-40B4-BE49-F238E27FC236}">
                <a16:creationId xmlns:a16="http://schemas.microsoft.com/office/drawing/2014/main" id="{BE26C57B-C5C4-A4CE-446F-0B9995C2D464}"/>
              </a:ext>
            </a:extLst>
          </p:cNvPr>
          <p:cNvSpPr>
            <a:spLocks noGrp="1"/>
          </p:cNvSpPr>
          <p:nvPr/>
        </p:nvSpPr>
        <p:spPr>
          <a:xfrm rot="21007099">
            <a:off x="1774866" y="3667733"/>
            <a:ext cx="239633" cy="1193081"/>
          </a:xfrm>
          <a:custGeom>
            <a:avLst/>
            <a:gdLst/>
            <a:ahLst/>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正方形/長方形 252">
            <a:extLst>
              <a:ext uri="{FF2B5EF4-FFF2-40B4-BE49-F238E27FC236}">
                <a16:creationId xmlns:a16="http://schemas.microsoft.com/office/drawing/2014/main" id="{4D391F1C-1322-2E29-F4D7-214D80D17B20}"/>
              </a:ext>
            </a:extLst>
          </p:cNvPr>
          <p:cNvSpPr>
            <a:spLocks noGrp="1"/>
          </p:cNvSpPr>
          <p:nvPr/>
        </p:nvSpPr>
        <p:spPr>
          <a:xfrm rot="21007099">
            <a:off x="1451219" y="4213172"/>
            <a:ext cx="602839" cy="690150"/>
          </a:xfrm>
          <a:custGeom>
            <a:avLst/>
            <a:gdLst/>
            <a:ahLst/>
            <a:cxnLst/>
            <a:rect l="l" t="t" r="r" b="b"/>
            <a:pathLst>
              <a:path w="684421" h="808641">
                <a:moveTo>
                  <a:pt x="262946" y="0"/>
                </a:moveTo>
                <a:lnTo>
                  <a:pt x="684421" y="0"/>
                </a:lnTo>
                <a:lnTo>
                  <a:pt x="416167" y="808641"/>
                </a:lnTo>
                <a:lnTo>
                  <a:pt x="0" y="796674"/>
                </a:lnTo>
                <a:lnTo>
                  <a:pt x="262946" y="0"/>
                </a:ln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 name="テキスト ボックス 17">
            <a:extLst>
              <a:ext uri="{FF2B5EF4-FFF2-40B4-BE49-F238E27FC236}">
                <a16:creationId xmlns:a16="http://schemas.microsoft.com/office/drawing/2014/main" id="{6690BCFF-4990-1486-2DEE-06D0784E2ABC}"/>
              </a:ext>
            </a:extLst>
          </p:cNvPr>
          <p:cNvSpPr>
            <a:spLocks noGrp="1"/>
          </p:cNvSpPr>
          <p:nvPr/>
        </p:nvSpPr>
        <p:spPr>
          <a:xfrm>
            <a:off x="1553469" y="3830384"/>
            <a:ext cx="497963" cy="274587"/>
          </a:xfrm>
          <a:prstGeom prst="rect">
            <a:avLst/>
          </a:prstGeom>
          <a:noFill/>
        </p:spPr>
        <p:txBody>
          <a:bodyPr wrap="none">
            <a:spAutoFit/>
          </a:bodyPr>
          <a:lstStyle/>
          <a:p>
            <a:r>
              <a:rPr sz="1200"/>
              <a:t>対象</a:t>
            </a:r>
          </a:p>
        </p:txBody>
      </p:sp>
      <p:sp>
        <p:nvSpPr>
          <p:cNvPr id="20" name="Oval 6">
            <a:extLst>
              <a:ext uri="{FF2B5EF4-FFF2-40B4-BE49-F238E27FC236}">
                <a16:creationId xmlns:a16="http://schemas.microsoft.com/office/drawing/2014/main" id="{CBC782B0-21D0-D49F-1622-01F8402A7C04}"/>
              </a:ext>
            </a:extLst>
          </p:cNvPr>
          <p:cNvSpPr>
            <a:spLocks noGrp="1"/>
          </p:cNvSpPr>
          <p:nvPr/>
        </p:nvSpPr>
        <p:spPr>
          <a:xfrm>
            <a:off x="1553469" y="3640661"/>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2</a:t>
            </a:r>
          </a:p>
        </p:txBody>
      </p:sp>
      <p:sp>
        <p:nvSpPr>
          <p:cNvPr id="21" name="フリーフォーム 20">
            <a:extLst>
              <a:ext uri="{FF2B5EF4-FFF2-40B4-BE49-F238E27FC236}">
                <a16:creationId xmlns:a16="http://schemas.microsoft.com/office/drawing/2014/main" id="{0405FCF0-F2F0-04F0-4BE8-E9891B3CF3C2}"/>
              </a:ext>
            </a:extLst>
          </p:cNvPr>
          <p:cNvSpPr>
            <a:spLocks noGrp="1"/>
          </p:cNvSpPr>
          <p:nvPr/>
        </p:nvSpPr>
        <p:spPr>
          <a:xfrm>
            <a:off x="1698692" y="4155437"/>
            <a:ext cx="570695" cy="771818"/>
          </a:xfrm>
          <a:custGeom>
            <a:avLst/>
            <a:gdLst/>
            <a:ahLst/>
            <a:cxnLst/>
            <a:rect l="l" t="t" r="r" b="b"/>
            <a:pathLst>
              <a:path w="657913" h="950284">
                <a:moveTo>
                  <a:pt x="657913" y="0"/>
                </a:moveTo>
                <a:lnTo>
                  <a:pt x="0" y="127781"/>
                </a:lnTo>
                <a:cubicBezTo>
                  <a:pt x="7214" y="187298"/>
                  <a:pt x="128048" y="890767"/>
                  <a:pt x="135262" y="950284"/>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フリーフォーム 22">
            <a:extLst>
              <a:ext uri="{FF2B5EF4-FFF2-40B4-BE49-F238E27FC236}">
                <a16:creationId xmlns:a16="http://schemas.microsoft.com/office/drawing/2014/main" id="{3A2981C2-7FF5-6404-C3E7-519E195F6556}"/>
              </a:ext>
            </a:extLst>
          </p:cNvPr>
          <p:cNvSpPr>
            <a:spLocks noGrp="1"/>
          </p:cNvSpPr>
          <p:nvPr/>
        </p:nvSpPr>
        <p:spPr>
          <a:xfrm>
            <a:off x="1788588" y="4313710"/>
            <a:ext cx="781489" cy="719445"/>
          </a:xfrm>
          <a:custGeom>
            <a:avLst/>
            <a:gdLst/>
            <a:ahLst/>
            <a:cxnLst/>
            <a:rect l="l" t="t" r="r" b="b"/>
            <a:pathLst>
              <a:path w="887247" h="842966">
                <a:moveTo>
                  <a:pt x="887247" y="702289"/>
                </a:moveTo>
                <a:lnTo>
                  <a:pt x="141659" y="842966"/>
                </a:lnTo>
                <a:cubicBezTo>
                  <a:pt x="132281" y="777317"/>
                  <a:pt x="9378" y="65649"/>
                  <a:pt x="0" y="0"/>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 name="フリーフォーム 23">
            <a:extLst>
              <a:ext uri="{FF2B5EF4-FFF2-40B4-BE49-F238E27FC236}">
                <a16:creationId xmlns:a16="http://schemas.microsoft.com/office/drawing/2014/main" id="{0700D77A-66BD-45B8-37F4-51C3E7FED2C5}"/>
              </a:ext>
            </a:extLst>
          </p:cNvPr>
          <p:cNvSpPr>
            <a:spLocks noGrp="1"/>
          </p:cNvSpPr>
          <p:nvPr/>
        </p:nvSpPr>
        <p:spPr>
          <a:xfrm>
            <a:off x="943046" y="4259019"/>
            <a:ext cx="738288" cy="265557"/>
          </a:xfrm>
          <a:custGeom>
            <a:avLst/>
            <a:gdLst/>
            <a:ahLst/>
            <a:cxnLst/>
            <a:rect l="l" t="t" r="r" b="b"/>
            <a:pathLst>
              <a:path w="838200" h="311150">
                <a:moveTo>
                  <a:pt x="838200" y="0"/>
                </a:moveTo>
                <a:lnTo>
                  <a:pt x="415925" y="82550"/>
                </a:lnTo>
                <a:lnTo>
                  <a:pt x="0" y="311150"/>
                </a:lnTo>
              </a:path>
            </a:pathLst>
          </a:custGeom>
          <a:noFill/>
          <a:ln w="38100">
            <a:solidFill>
              <a:srgbClr val="F2B3ED"/>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Oval 6">
            <a:extLst>
              <a:ext uri="{FF2B5EF4-FFF2-40B4-BE49-F238E27FC236}">
                <a16:creationId xmlns:a16="http://schemas.microsoft.com/office/drawing/2014/main" id="{A5BC62E2-32EC-9C1E-18C7-ECBE4CAB3D55}"/>
              </a:ext>
            </a:extLst>
          </p:cNvPr>
          <p:cNvSpPr>
            <a:spLocks noGrp="1"/>
          </p:cNvSpPr>
          <p:nvPr/>
        </p:nvSpPr>
        <p:spPr>
          <a:xfrm>
            <a:off x="2362973" y="4873938"/>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4</a:t>
            </a:r>
          </a:p>
        </p:txBody>
      </p:sp>
      <p:sp>
        <p:nvSpPr>
          <p:cNvPr id="28" name="コンテンツ プレースホルダー 2">
            <a:extLst>
              <a:ext uri="{FF2B5EF4-FFF2-40B4-BE49-F238E27FC236}">
                <a16:creationId xmlns:a16="http://schemas.microsoft.com/office/drawing/2014/main" id="{6A8F459F-7F1D-F5A0-92CF-B834E940EBE0}"/>
              </a:ext>
            </a:extLst>
          </p:cNvPr>
          <p:cNvSpPr>
            <a:spLocks noGrp="1"/>
          </p:cNvSpPr>
          <p:nvPr/>
        </p:nvSpPr>
        <p:spPr>
          <a:xfrm>
            <a:off x="335360" y="1089140"/>
            <a:ext cx="10944470" cy="404645"/>
          </a:xfrm>
          <a:prstGeom prst="rect">
            <a:avLst/>
          </a:prstGeom>
        </p:spPr>
        <p:txBody>
          <a:bodyPr vert="horz" lIns="91440" tIns="45720" rIns="91440" bIns="45720">
            <a:normAutofit/>
          </a:bodyPr>
          <a:lst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sz="1800" b="1">
                <a:solidFill>
                  <a:schemeClr val="bg2">
                    <a:lumMod val="10000"/>
                  </a:schemeClr>
                </a:solidFill>
                <a:latin typeface="Noto Sans CJK JP"/>
                <a:ea typeface="Noto Sans CJK JP"/>
                <a:cs typeface="Noto Sans CJK JP"/>
              </a:rPr>
              <a:t>ミッドランドスクエア＋50mを参照し、買い物・外食候補の期待来訪確率から置換人数を決定した。</a:t>
            </a:r>
          </a:p>
        </p:txBody>
      </p:sp>
      <p:sp>
        <p:nvSpPr>
          <p:cNvPr id="33" name="コンテンツ プレースホルダー 2">
            <a:extLst>
              <a:ext uri="{FF2B5EF4-FFF2-40B4-BE49-F238E27FC236}">
                <a16:creationId xmlns:a16="http://schemas.microsoft.com/office/drawing/2014/main" id="{5F4DCE42-8D84-2C1C-1086-D00EE3C581C4}"/>
              </a:ext>
            </a:extLst>
          </p:cNvPr>
          <p:cNvSpPr>
            <a:spLocks noGrp="1"/>
          </p:cNvSpPr>
          <p:nvPr/>
        </p:nvSpPr>
        <p:spPr>
          <a:xfrm>
            <a:off x="53218" y="1931532"/>
            <a:ext cx="3996544" cy="404645"/>
          </a:xfrm>
          <a:prstGeom prst="rect">
            <a:avLst/>
          </a:prstGeom>
        </p:spPr>
        <p:txBody>
          <a:bodyPr vert="horz" lIns="91440" tIns="45720" rIns="91440" bIns="45720">
            <a:normAutofit/>
          </a:bodyPr>
          <a:lst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gn="ctr">
              <a:buNone/>
            </a:pPr>
            <a:r>
              <a:rPr sz="1600" b="1">
                <a:solidFill>
                  <a:schemeClr val="tx2">
                    <a:lumMod val="90000"/>
                    <a:lumOff val="10000"/>
                  </a:schemeClr>
                </a:solidFill>
                <a:latin typeface="HGMinchoE"/>
                <a:ea typeface="HGMinchoE"/>
                <a:cs typeface="HGMinchoE"/>
              </a:rPr>
              <a:t>仮想対象地：旧・名鉄百貨店本店付近</a:t>
            </a:r>
          </a:p>
        </p:txBody>
      </p:sp>
      <p:sp>
        <p:nvSpPr>
          <p:cNvPr id="42" name="右矢印 41">
            <a:extLst>
              <a:ext uri="{FF2B5EF4-FFF2-40B4-BE49-F238E27FC236}">
                <a16:creationId xmlns:a16="http://schemas.microsoft.com/office/drawing/2014/main" id="{BBEFE5E3-4DE9-D477-98D5-BDBE1A541782}"/>
              </a:ext>
            </a:extLst>
          </p:cNvPr>
          <p:cNvSpPr>
            <a:spLocks noGrp="1"/>
          </p:cNvSpPr>
          <p:nvPr/>
        </p:nvSpPr>
        <p:spPr>
          <a:xfrm>
            <a:off x="6033379" y="3579260"/>
            <a:ext cx="355895" cy="182778"/>
          </a:xfrm>
          <a:prstGeom prst="rightArrow">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3" name="Rounded Rectangle 5">
            <a:extLst>
              <a:ext uri="{FF2B5EF4-FFF2-40B4-BE49-F238E27FC236}">
                <a16:creationId xmlns:a16="http://schemas.microsoft.com/office/drawing/2014/main" id="{0B2913D3-BD74-6D36-DB85-7FEB8E595874}"/>
              </a:ext>
            </a:extLst>
          </p:cNvPr>
          <p:cNvSpPr>
            <a:spLocks noGrp="1"/>
          </p:cNvSpPr>
          <p:nvPr/>
        </p:nvSpPr>
        <p:spPr>
          <a:xfrm>
            <a:off x="5712201" y="5084871"/>
            <a:ext cx="2482137" cy="238547"/>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新施設へ目的地を置換</a:t>
            </a:r>
          </a:p>
        </p:txBody>
      </p:sp>
      <p:sp>
        <p:nvSpPr>
          <p:cNvPr id="44" name="Rounded Rectangle 5">
            <a:extLst>
              <a:ext uri="{FF2B5EF4-FFF2-40B4-BE49-F238E27FC236}">
                <a16:creationId xmlns:a16="http://schemas.microsoft.com/office/drawing/2014/main" id="{83E3009E-5B3A-5D07-E2DE-F61DA4CBCAB0}"/>
              </a:ext>
            </a:extLst>
          </p:cNvPr>
          <p:cNvSpPr>
            <a:spLocks noGrp="1"/>
          </p:cNvSpPr>
          <p:nvPr/>
        </p:nvSpPr>
        <p:spPr>
          <a:xfrm>
            <a:off x="4187952" y="5400133"/>
            <a:ext cx="2888402" cy="880236"/>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200">
                <a:solidFill>
                  <a:schemeClr val="tx1"/>
                </a:solidFill>
              </a:rPr>
              <a:t>期待来訪者 199.675人</a:t>
            </a:r>
          </a:p>
          <a:p>
            <a:pPr algn="ctr">
              <a:buNone/>
            </a:pPr>
            <a:r>
              <a:rPr sz="1200">
                <a:solidFill>
                  <a:schemeClr val="tx1"/>
                </a:solidFill>
              </a:rPr>
              <a:t>→ 200人を再現可能に抽出</a:t>
            </a:r>
          </a:p>
          <a:p>
            <a:pPr algn="ctr">
              <a:buNone/>
            </a:pPr>
            <a:r>
              <a:rPr sz="1200">
                <a:solidFill>
                  <a:schemeClr val="tx1"/>
                </a:solidFill>
              </a:rPr>
              <a:t>到着200件／後続188件を変更</a:t>
            </a:r>
          </a:p>
        </p:txBody>
      </p:sp>
      <p:sp>
        <p:nvSpPr>
          <p:cNvPr id="45" name="Rounded Rectangle 5">
            <a:extLst>
              <a:ext uri="{FF2B5EF4-FFF2-40B4-BE49-F238E27FC236}">
                <a16:creationId xmlns:a16="http://schemas.microsoft.com/office/drawing/2014/main" id="{F0CCA1F7-8CD5-D722-83A8-30F14043783A}"/>
              </a:ext>
            </a:extLst>
          </p:cNvPr>
          <p:cNvSpPr>
            <a:spLocks noGrp="1"/>
          </p:cNvSpPr>
          <p:nvPr/>
        </p:nvSpPr>
        <p:spPr>
          <a:xfrm>
            <a:off x="9386433" y="2583187"/>
            <a:ext cx="2483144" cy="404645"/>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latin typeface="+mn-ea"/>
                <a:ea typeface="+mn-ea"/>
                <a:cs typeface="+mn-ea"/>
              </a:rPr>
              <a:t>高選好候補 80,658人</a:t>
            </a:r>
          </a:p>
        </p:txBody>
      </p:sp>
      <p:sp>
        <p:nvSpPr>
          <p:cNvPr id="46" name="Rounded Rectangle 5">
            <a:extLst>
              <a:ext uri="{FF2B5EF4-FFF2-40B4-BE49-F238E27FC236}">
                <a16:creationId xmlns:a16="http://schemas.microsoft.com/office/drawing/2014/main" id="{E0DFFC78-6EC4-F509-0351-A0A555716C26}"/>
              </a:ext>
            </a:extLst>
          </p:cNvPr>
          <p:cNvSpPr>
            <a:spLocks noGrp="1"/>
          </p:cNvSpPr>
          <p:nvPr/>
        </p:nvSpPr>
        <p:spPr>
          <a:xfrm>
            <a:off x="8733515" y="3040582"/>
            <a:ext cx="2483144" cy="425581"/>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買い物・外食候補 46,129人</a:t>
            </a:r>
          </a:p>
        </p:txBody>
      </p:sp>
      <p:sp>
        <p:nvSpPr>
          <p:cNvPr id="47" name="Rounded Rectangle 5">
            <a:extLst>
              <a:ext uri="{FF2B5EF4-FFF2-40B4-BE49-F238E27FC236}">
                <a16:creationId xmlns:a16="http://schemas.microsoft.com/office/drawing/2014/main" id="{B367B70A-7657-6858-F488-6094574F0AFD}"/>
              </a:ext>
            </a:extLst>
          </p:cNvPr>
          <p:cNvSpPr>
            <a:spLocks noGrp="1"/>
          </p:cNvSpPr>
          <p:nvPr/>
        </p:nvSpPr>
        <p:spPr>
          <a:xfrm>
            <a:off x="9376647" y="3861407"/>
            <a:ext cx="2483144" cy="286036"/>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buNone/>
            </a:pPr>
            <a:r>
              <a:rPr sz="1050">
                <a:solidFill>
                  <a:schemeClr val="tx1"/>
                </a:solidFill>
                <a:latin typeface="+mn-ea"/>
                <a:ea typeface="+mn-ea"/>
                <a:cs typeface="+mn-ea"/>
              </a:rPr>
              <a:t>到着目的地を新施設へ</a:t>
            </a:r>
          </a:p>
        </p:txBody>
      </p:sp>
      <p:sp>
        <p:nvSpPr>
          <p:cNvPr id="48" name="Rounded Rectangle 5">
            <a:extLst>
              <a:ext uri="{FF2B5EF4-FFF2-40B4-BE49-F238E27FC236}">
                <a16:creationId xmlns:a16="http://schemas.microsoft.com/office/drawing/2014/main" id="{2CD80D3E-3C3C-04C1-BF3C-183F3AB00014}"/>
              </a:ext>
            </a:extLst>
          </p:cNvPr>
          <p:cNvSpPr>
            <a:spLocks noGrp="1"/>
          </p:cNvSpPr>
          <p:nvPr/>
        </p:nvSpPr>
        <p:spPr>
          <a:xfrm>
            <a:off x="9379339" y="5091629"/>
            <a:ext cx="2483144" cy="720245"/>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buNone/>
            </a:pPr>
            <a:r>
              <a:rPr sz="1050">
                <a:solidFill>
                  <a:schemeClr val="tx1"/>
                </a:solidFill>
                <a:latin typeface="+mn-ea"/>
                <a:ea typeface="+mn-ea"/>
                <a:cs typeface="+mn-ea"/>
              </a:rPr>
              <a:t>時刻順序違反 0件</a:t>
            </a:r>
          </a:p>
        </p:txBody>
      </p:sp>
      <p:sp>
        <p:nvSpPr>
          <p:cNvPr id="53" name="Rounded Rectangle 5">
            <a:extLst>
              <a:ext uri="{FF2B5EF4-FFF2-40B4-BE49-F238E27FC236}">
                <a16:creationId xmlns:a16="http://schemas.microsoft.com/office/drawing/2014/main" id="{58C384DB-13FB-5358-95F8-C14FC57C28FD}"/>
              </a:ext>
            </a:extLst>
          </p:cNvPr>
          <p:cNvSpPr>
            <a:spLocks noGrp="1"/>
          </p:cNvSpPr>
          <p:nvPr/>
        </p:nvSpPr>
        <p:spPr>
          <a:xfrm>
            <a:off x="8713947" y="4211312"/>
            <a:ext cx="2605334" cy="43692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後続トリップの出発地も同地点へ</a:t>
            </a:r>
          </a:p>
        </p:txBody>
      </p:sp>
      <p:sp>
        <p:nvSpPr>
          <p:cNvPr id="54" name="Rounded Rectangle 5">
            <a:extLst>
              <a:ext uri="{FF2B5EF4-FFF2-40B4-BE49-F238E27FC236}">
                <a16:creationId xmlns:a16="http://schemas.microsoft.com/office/drawing/2014/main" id="{E1F9C3E9-68EF-687E-C527-D1AE17B96561}"/>
              </a:ext>
            </a:extLst>
          </p:cNvPr>
          <p:cNvSpPr>
            <a:spLocks noGrp="1"/>
          </p:cNvSpPr>
          <p:nvPr/>
        </p:nvSpPr>
        <p:spPr>
          <a:xfrm>
            <a:off x="8727150" y="5862392"/>
            <a:ext cx="2605334" cy="43692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変更後チェーン接続ずれ 0件</a:t>
            </a:r>
          </a:p>
        </p:txBody>
      </p:sp>
      <p:sp>
        <p:nvSpPr>
          <p:cNvPr id="3" name="テキスト ボックス 2">
            <a:extLst>
              <a:ext uri="{FF2B5EF4-FFF2-40B4-BE49-F238E27FC236}">
                <a16:creationId xmlns:a16="http://schemas.microsoft.com/office/drawing/2014/main" id="{C49AE73C-4ECE-44E4-3F72-03D7AA436B6D}"/>
              </a:ext>
            </a:extLst>
          </p:cNvPr>
          <p:cNvSpPr>
            <a:spLocks noGrp="1"/>
          </p:cNvSpPr>
          <p:nvPr/>
        </p:nvSpPr>
        <p:spPr>
          <a:xfrm>
            <a:off x="593976" y="1657334"/>
            <a:ext cx="2339102" cy="307777"/>
          </a:xfrm>
          <a:prstGeom prst="rect">
            <a:avLst/>
          </a:prstGeom>
          <a:noFill/>
        </p:spPr>
        <p:txBody>
          <a:bodyPr wrap="none">
            <a:spAutoFit/>
          </a:bodyPr>
          <a:lstStyle/>
          <a:p>
            <a:r>
              <a:rPr sz="1400"/>
              <a:t>※元DBは変更せず、座標差分を別出力</a:t>
            </a:r>
          </a:p>
        </p:txBody>
      </p:sp>
    </p:spTree>
    <p:extLst>
      <p:ext uri="{BB962C8B-B14F-4D97-AF65-F5344CB8AC3E}">
        <p14:creationId xmlns:p14="http://schemas.microsoft.com/office/powerpoint/2010/main" val="2708325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A4EF6B-B512-E957-743C-82DA5DE94E34}"/>
              </a:ext>
            </a:extLst>
          </p:cNvPr>
          <p:cNvSpPr>
            <a:spLocks noGrp="1"/>
          </p:cNvSpPr>
          <p:nvPr>
            <p:ph type="title"/>
          </p:nvPr>
        </p:nvSpPr>
        <p:spPr/>
        <p:txBody>
          <a:bodyPr/>
          <a:lstStyle/>
          <a:p>
            <a:r>
              <a:t>境界と候補閾値で結果は大きく変わる</a:t>
            </a:r>
          </a:p>
        </p:txBody>
      </p:sp>
      <p:sp>
        <p:nvSpPr>
          <p:cNvPr id="4" name="日付プレースホルダー 3">
            <a:extLst>
              <a:ext uri="{FF2B5EF4-FFF2-40B4-BE49-F238E27FC236}">
                <a16:creationId xmlns:a16="http://schemas.microsoft.com/office/drawing/2014/main" id="{DEAC2C02-6A43-455F-816A-C0CD36050948}"/>
              </a:ext>
            </a:extLst>
          </p:cNvPr>
          <p:cNvSpPr>
            <a:spLocks noGrp="1"/>
          </p:cNvSpPr>
          <p:nvPr>
            <p:ph type="dt" idx="10"/>
          </p:nvPr>
        </p:nvSpPr>
        <p:spPr/>
        <p:txBody>
          <a:bodyPr/>
          <a:lstStyle/>
          <a:p>
            <a:r>
              <a:t>2026/8</a:t>
            </a:r>
          </a:p>
        </p:txBody>
      </p:sp>
      <p:sp>
        <p:nvSpPr>
          <p:cNvPr id="5" name="フッター プレースホルダー 4">
            <a:extLst>
              <a:ext uri="{FF2B5EF4-FFF2-40B4-BE49-F238E27FC236}">
                <a16:creationId xmlns:a16="http://schemas.microsoft.com/office/drawing/2014/main" id="{0BEC8B07-CCEA-591D-35C2-1603ED422298}"/>
              </a:ext>
            </a:extLst>
          </p:cNvPr>
          <p:cNvSpPr>
            <a:spLocks noGrp="1"/>
          </p:cNvSpPr>
          <p:nvPr>
            <p:ph type="ftr" idx="11"/>
          </p:nvPr>
        </p:nvSpPr>
        <p:spPr/>
        <p:txBody>
          <a:bodyPr/>
          <a:lstStyle/>
          <a:p>
            <a:r>
              <a:t>関本・中居研究室</a:t>
            </a:r>
          </a:p>
        </p:txBody>
      </p:sp>
      <p:sp>
        <p:nvSpPr>
          <p:cNvPr id="6" name="スライド番号プレースホルダー 5">
            <a:extLst>
              <a:ext uri="{FF2B5EF4-FFF2-40B4-BE49-F238E27FC236}">
                <a16:creationId xmlns:a16="http://schemas.microsoft.com/office/drawing/2014/main" id="{DEA47CD3-D3DD-69C8-46D2-BEAA2391E6C8}"/>
              </a:ext>
            </a:extLst>
          </p:cNvPr>
          <p:cNvSpPr>
            <a:spLocks noGrp="1"/>
          </p:cNvSpPr>
          <p:nvPr>
            <p:ph type="sldNum" idx="12"/>
          </p:nvPr>
        </p:nvSpPr>
        <p:spPr/>
        <p:txBody>
          <a:bodyPr/>
          <a:lstStyle/>
          <a:p>
            <a:fld id="{EE5B3003-2C54-13C6-9832-7637201064DE}" type="slidenum">
              <a:rPr/>
              <a:t>5</a:t>
            </a:fld>
            <a:endParaRPr/>
          </a:p>
        </p:txBody>
      </p:sp>
      <p:sp>
        <p:nvSpPr>
          <p:cNvPr id="7" name="テキスト ボックス 6">
            <a:extLst>
              <a:ext uri="{FF2B5EF4-FFF2-40B4-BE49-F238E27FC236}">
                <a16:creationId xmlns:a16="http://schemas.microsoft.com/office/drawing/2014/main" id="{DA0DF16B-B2CB-1C9F-9313-C4CBA8E6C891}"/>
              </a:ext>
            </a:extLst>
          </p:cNvPr>
          <p:cNvSpPr>
            <a:spLocks noGrp="1"/>
          </p:cNvSpPr>
          <p:nvPr/>
        </p:nvSpPr>
        <p:spPr>
          <a:xfrm>
            <a:off x="838200" y="1223755"/>
            <a:ext cx="10326470" cy="1200329"/>
          </a:xfrm>
          <a:prstGeom prst="rect">
            <a:avLst/>
          </a:prstGeom>
          <a:noFill/>
        </p:spPr>
        <p:txBody>
          <a:bodyPr wrap="square">
            <a:spAutoFit/>
          </a:bodyPr>
          <a:lstStyle/>
          <a:p>
            <a:r>
              <a:rPr b="1"/>
              <a:t>50m・スコア1.10は処理を一度通すための暫定値であり、境界・目的構成・交通系列を含む検証が必要。</a:t>
            </a:r>
          </a:p>
        </p:txBody>
      </p:sp>
      <p:graphicFrame>
        <p:nvGraphicFramePr>
          <p:cNvPr id="14" name="表 7"/>
          <p:cNvGraphicFramePr/>
          <p:nvPr/>
        </p:nvGraphicFramePr>
        <p:xfrm>
          <a:off x="838200" y="2571075"/>
          <a:ext cx="10326470" cy="3638283"/>
        </p:xfrm>
        <a:graphic>
          <a:graphicData uri="http://schemas.openxmlformats.org/drawingml/2006/table">
            <a:tbl>
              <a:tblPr firstRow="1" bandRow="1">
                <a:effectLst>
                  <a:outerShdw blurRad="50800" dist="38100" dir="8100000" algn="tr" rotWithShape="0">
                    <a:prstClr val="black">
                      <a:alpha val="40000"/>
                    </a:prstClr>
                  </a:outerShdw>
                </a:effectLst>
                <a:tableStyleId>{F5AB1C69-6EDB-4FF4-983F-18BD219EF322}</a:tableStyleId>
              </a:tblPr>
              <a:tblGrid>
                <a:gridCol w="2287470">
                  <a:extLst>
                    <a:ext uri="{9D8B030D-6E8A-4147-A177-3AD203B41FA5}">
                      <a16:colId xmlns:a16="http://schemas.microsoft.com/office/drawing/2014/main" val="20000"/>
                    </a:ext>
                  </a:extLst>
                </a:gridCol>
                <a:gridCol w="8039000">
                  <a:extLst>
                    <a:ext uri="{9D8B030D-6E8A-4147-A177-3AD203B41FA5}">
                      <a16:colId xmlns:a16="http://schemas.microsoft.com/office/drawing/2014/main" val="20001"/>
                    </a:ext>
                  </a:extLst>
                </a:gridCol>
              </a:tblGrid>
              <a:tr h="495055">
                <a:tc>
                  <a:txBody>
                    <a:bodyPr/>
                    <a:lstStyle/>
                    <a:p>
                      <a:pPr algn="ctr">
                        <a:buNone/>
                      </a:pPr>
                      <a:r>
                        <a:rPr b="0"/>
                        <a:t>感度条件</a:t>
                      </a:r>
                    </a:p>
                  </a:txBody>
                  <a:tcPr anchor="ctr">
                    <a:solidFill>
                      <a:srgbClr val="0E2741"/>
                    </a:solidFill>
                  </a:tcPr>
                </a:tc>
                <a:tc>
                  <a:txBody>
                    <a:bodyPr/>
                    <a:lstStyle/>
                    <a:p>
                      <a:pPr algn="ctr">
                        <a:buNone/>
                      </a:pPr>
                      <a:r>
                        <a:rPr sz="1800" b="0"/>
                        <a:t>確認結果</a:t>
                      </a:r>
                    </a:p>
                  </a:txBody>
                  <a:tcPr anchor="ctr">
                    <a:solidFill>
                      <a:srgbClr val="0E2741"/>
                    </a:solidFill>
                  </a:tcPr>
                </a:tc>
                <a:extLst>
                  <a:ext uri="{0D108BD9-81ED-4DB2-BD59-A6C34878D82A}">
                    <a16:rowId xmlns:a16="http://schemas.microsoft.com/office/drawing/2014/main" val="10000"/>
                  </a:ext>
                </a:extLst>
              </a:tr>
              <a:tr h="785807">
                <a:tc>
                  <a:txBody>
                    <a:bodyPr/>
                    <a:lstStyle/>
                    <a:p>
                      <a:pPr algn="ctr">
                        <a:buNone/>
                      </a:pPr>
                      <a:r>
                        <a:rPr sz="1600" b="0"/>
                        <a:t>施設境界</a:t>
                      </a:r>
                    </a:p>
                    <a:p>
                      <a:pPr algn="ctr">
                        <a:buNone/>
                      </a:pPr>
                      <a:r>
                        <a:rPr sz="1600" b="0"/>
                        <a:t>建物内 / 50m / 100m</a:t>
                      </a:r>
                    </a:p>
                  </a:txBody>
                  <a:tcPr anchor="ctr"/>
                </a:tc>
                <a:tc>
                  <a:txBody>
                    <a:bodyPr/>
                    <a:lstStyle/>
                    <a:p>
                      <a:r>
                        <a:rPr sz="1400"/>
                        <a:t>参照施設同等の期待来訪者</a:t>
                      </a:r>
                    </a:p>
                    <a:p>
                      <a:r>
                        <a:rPr sz="1400"/>
                        <a:t>1,565人 / 2,914人 / 14,188人</a:t>
                      </a:r>
                    </a:p>
                  </a:txBody>
                  <a:tcPr anchor="ctr"/>
                </a:tc>
                <a:extLst>
                  <a:ext uri="{0D108BD9-81ED-4DB2-BD59-A6C34878D82A}">
                    <a16:rowId xmlns:a16="http://schemas.microsoft.com/office/drawing/2014/main" val="10001"/>
                  </a:ext>
                </a:extLst>
              </a:tr>
              <a:tr h="785807">
                <a:tc>
                  <a:txBody>
                    <a:bodyPr/>
                    <a:lstStyle/>
                    <a:p>
                      <a:pPr algn="ctr">
                        <a:buNone/>
                      </a:pPr>
                      <a:r>
                        <a:rPr sz="1600" b="0"/>
                        <a:t>候補閾値</a:t>
                      </a:r>
                    </a:p>
                    <a:p>
                      <a:pPr algn="ctr">
                        <a:buNone/>
                      </a:pPr>
                      <a:r>
                        <a:rPr sz="1600" b="0"/>
                        <a:t>1.05 / 1.10 / 1.15</a:t>
                      </a:r>
                    </a:p>
                  </a:txBody>
                  <a:tcPr anchor="ctr"/>
                </a:tc>
                <a:tc>
                  <a:txBody>
                    <a:bodyPr/>
                    <a:lstStyle/>
                    <a:p>
                      <a:pPr>
                        <a:buNone/>
                      </a:pPr>
                      <a:r>
                        <a:rPr sz="1400"/>
                        <a:t>候補人物</a:t>
                      </a:r>
                    </a:p>
                    <a:p>
                      <a:pPr>
                        <a:buNone/>
                      </a:pPr>
                      <a:r>
                        <a:rPr sz="1400"/>
                        <a:t>330,613人 / 80,658人 / 23,656人</a:t>
                      </a:r>
                    </a:p>
                  </a:txBody>
                  <a:tcPr anchor="ctr"/>
                </a:tc>
                <a:extLst>
                  <a:ext uri="{0D108BD9-81ED-4DB2-BD59-A6C34878D82A}">
                    <a16:rowId xmlns:a16="http://schemas.microsoft.com/office/drawing/2014/main" val="10002"/>
                  </a:ext>
                </a:extLst>
              </a:tr>
              <a:tr h="785807">
                <a:tc>
                  <a:txBody>
                    <a:bodyPr/>
                    <a:lstStyle/>
                    <a:p>
                      <a:pPr algn="ctr">
                        <a:buNone/>
                      </a:pPr>
                      <a:r>
                        <a:rPr sz="1600" b="0"/>
                        <a:t>目的構成</a:t>
                      </a:r>
                    </a:p>
                  </a:txBody>
                  <a:tcPr anchor="ctr"/>
                </a:tc>
                <a:tc>
                  <a:txBody>
                    <a:bodyPr/>
                    <a:lstStyle/>
                    <a:p>
                      <a:r>
                        <a:rPr sz="1400"/>
                        <a:t>50mでは買い物0.47、外食1.71</a:t>
                      </a:r>
                    </a:p>
                    <a:p>
                      <a:r>
                        <a:rPr sz="1400"/>
                        <a:t>置換した200人は全員外食目的</a:t>
                      </a:r>
                    </a:p>
                  </a:txBody>
                  <a:tcPr anchor="ctr"/>
                </a:tc>
                <a:extLst>
                  <a:ext uri="{0D108BD9-81ED-4DB2-BD59-A6C34878D82A}">
                    <a16:rowId xmlns:a16="http://schemas.microsoft.com/office/drawing/2014/main" val="10003"/>
                  </a:ext>
                </a:extLst>
              </a:tr>
              <a:tr h="785807">
                <a:tc>
                  <a:txBody>
                    <a:bodyPr/>
                    <a:lstStyle/>
                    <a:p>
                      <a:pPr algn="ctr">
                        <a:buNone/>
                      </a:pPr>
                      <a:r>
                        <a:rPr sz="1600" b="0"/>
                        <a:t>鉄道アクセス</a:t>
                      </a:r>
                    </a:p>
                  </a:txBody>
                  <a:tcPr anchor="ctr"/>
                </a:tc>
                <a:tc>
                  <a:txBody>
                    <a:bodyPr/>
                    <a:lstStyle/>
                    <a:p>
                      <a:r>
                        <a:rPr sz="1400"/>
                        <a:t>直接鉄道は0件だが「鉄道→徒歩」は376件</a:t>
                      </a:r>
                    </a:p>
                    <a:p>
                      <a:r>
                        <a:rPr sz="1400"/>
                        <a:t>前後交通系列を使う必要がある</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31591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012059-E259-5B9A-96D8-E48A2C29B4D9}"/>
              </a:ext>
            </a:extLst>
          </p:cNvPr>
          <p:cNvSpPr>
            <a:spLocks noGrp="1"/>
          </p:cNvSpPr>
          <p:nvPr>
            <p:ph type="title"/>
          </p:nvPr>
        </p:nvSpPr>
        <p:spPr/>
        <p:txBody>
          <a:bodyPr/>
          <a:lstStyle/>
          <a:p>
            <a:r>
              <a:t>次は目的別需要と交通手段再推定へ</a:t>
            </a:r>
          </a:p>
        </p:txBody>
      </p:sp>
      <p:sp>
        <p:nvSpPr>
          <p:cNvPr id="3" name="コンテンツ プレースホルダー 2">
            <a:extLst>
              <a:ext uri="{FF2B5EF4-FFF2-40B4-BE49-F238E27FC236}">
                <a16:creationId xmlns:a16="http://schemas.microsoft.com/office/drawing/2014/main" id="{D6FC56F0-A53D-D0DA-50EC-C84A9EC253D9}"/>
              </a:ext>
            </a:extLst>
          </p:cNvPr>
          <p:cNvSpPr>
            <a:spLocks noGrp="1"/>
          </p:cNvSpPr>
          <p:nvPr>
            <p:ph idx="1"/>
          </p:nvPr>
        </p:nvSpPr>
        <p:spPr>
          <a:xfrm>
            <a:off x="605390" y="1073631"/>
            <a:ext cx="10515600" cy="2415482"/>
          </a:xfrm>
        </p:spPr>
        <p:txBody>
          <a:bodyPr>
            <a:normAutofit/>
          </a:bodyPr>
          <a:lstStyle/>
          <a:p>
            <a:pPr marL="0" indent="0">
              <a:buNone/>
            </a:pPr>
            <a:r>
              <a:rPr b="1"/>
              <a:t>1. 施設規模・用途構成を使う目的別来訪者モデル</a:t>
            </a:r>
          </a:p>
          <a:p>
            <a:pPr marL="0" indent="0">
              <a:buNone/>
            </a:pPr>
            <a:r>
              <a:rPr sz="1800"/>
              <a:t>物販・飲食の規模または構成比を入力</a:t>
            </a:r>
          </a:p>
          <a:p>
            <a:r>
              <a:rPr sz="1800"/>
              <a:t>買い物100と外食200の人数を別々に推定</a:t>
            </a:r>
          </a:p>
          <a:p>
            <a:r>
              <a:rPr sz="1800"/>
              <a:t>参照施設同等規模を1.0とする補正式を整理</a:t>
            </a:r>
          </a:p>
          <a:p>
            <a:r>
              <a:rPr sz="1800"/>
              <a:t>自由行動400は判定条件を分離</a:t>
            </a:r>
          </a:p>
        </p:txBody>
      </p:sp>
      <p:sp>
        <p:nvSpPr>
          <p:cNvPr id="4" name="日付プレースホルダー 3">
            <a:extLst>
              <a:ext uri="{FF2B5EF4-FFF2-40B4-BE49-F238E27FC236}">
                <a16:creationId xmlns:a16="http://schemas.microsoft.com/office/drawing/2014/main" id="{0166E489-ABEF-3DB4-D103-3C6414CA1C23}"/>
              </a:ext>
            </a:extLst>
          </p:cNvPr>
          <p:cNvSpPr>
            <a:spLocks noGrp="1"/>
          </p:cNvSpPr>
          <p:nvPr>
            <p:ph type="dt" idx="10"/>
          </p:nvPr>
        </p:nvSpPr>
        <p:spPr/>
        <p:txBody>
          <a:bodyPr/>
          <a:lstStyle/>
          <a:p>
            <a:r>
              <a:t>2026/8</a:t>
            </a:r>
          </a:p>
        </p:txBody>
      </p:sp>
      <p:sp>
        <p:nvSpPr>
          <p:cNvPr id="5" name="フッター プレースホルダー 4">
            <a:extLst>
              <a:ext uri="{FF2B5EF4-FFF2-40B4-BE49-F238E27FC236}">
                <a16:creationId xmlns:a16="http://schemas.microsoft.com/office/drawing/2014/main" id="{EBC257F6-25F9-A94A-1F77-076D81BDE7F7}"/>
              </a:ext>
            </a:extLst>
          </p:cNvPr>
          <p:cNvSpPr>
            <a:spLocks noGrp="1"/>
          </p:cNvSpPr>
          <p:nvPr>
            <p:ph type="ftr" idx="11"/>
          </p:nvPr>
        </p:nvSpPr>
        <p:spPr/>
        <p:txBody>
          <a:bodyPr/>
          <a:lstStyle/>
          <a:p>
            <a:r>
              <a:t>関本・中居研究室</a:t>
            </a:r>
          </a:p>
        </p:txBody>
      </p:sp>
      <p:sp>
        <p:nvSpPr>
          <p:cNvPr id="6" name="スライド番号プレースホルダー 5">
            <a:extLst>
              <a:ext uri="{FF2B5EF4-FFF2-40B4-BE49-F238E27FC236}">
                <a16:creationId xmlns:a16="http://schemas.microsoft.com/office/drawing/2014/main" id="{73A8431F-510D-3CE6-EFAE-63960607DC0D}"/>
              </a:ext>
            </a:extLst>
          </p:cNvPr>
          <p:cNvSpPr>
            <a:spLocks noGrp="1"/>
          </p:cNvSpPr>
          <p:nvPr>
            <p:ph type="sldNum" idx="12"/>
          </p:nvPr>
        </p:nvSpPr>
        <p:spPr/>
        <p:txBody>
          <a:bodyPr/>
          <a:lstStyle/>
          <a:p>
            <a:fld id="{8C630A04-5A25-9E0C-9436-126091DB86B3}" type="slidenum">
              <a:t>6</a:t>
            </a:fld>
            <a:endParaRPr/>
          </a:p>
        </p:txBody>
      </p:sp>
      <p:sp>
        <p:nvSpPr>
          <p:cNvPr id="9" name="コンテンツ プレースホルダー 2">
            <a:extLst>
              <a:ext uri="{FF2B5EF4-FFF2-40B4-BE49-F238E27FC236}">
                <a16:creationId xmlns:a16="http://schemas.microsoft.com/office/drawing/2014/main" id="{C1539116-3C6B-D7F6-C066-17644665B23E}"/>
              </a:ext>
            </a:extLst>
          </p:cNvPr>
          <p:cNvSpPr>
            <a:spLocks noGrp="1"/>
          </p:cNvSpPr>
          <p:nvPr/>
        </p:nvSpPr>
        <p:spPr>
          <a:xfrm>
            <a:off x="605390" y="3654025"/>
            <a:ext cx="10515600" cy="2569852"/>
          </a:xfrm>
          <a:prstGeom prst="rect">
            <a:avLst/>
          </a:prstGeom>
        </p:spPr>
        <p:txBody>
          <a:bodyPr vert="horz" lIns="91440" tIns="45720" rIns="91440" bIns="45720">
            <a:noAutofit/>
          </a:bodyPr>
          <a:lstStyle>
            <a:lvl1pPr marL="228600" indent="-228600" algn="l" defTabSz="914400">
              <a:lnSpc>
                <a:spcPct val="90000"/>
              </a:lnSpc>
              <a:spcBef>
                <a:spcPts val="1000"/>
              </a:spcBef>
              <a:buFont typeface="Arial"/>
              <a:buChar char="•"/>
              <a:defRPr sz="20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18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6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4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2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None/>
            </a:pPr>
            <a:r>
              <a:rPr b="1"/>
              <a:t>2. 距離変更後の交通手段を再推定</a:t>
            </a:r>
          </a:p>
          <a:p>
            <a:pPr marL="0" indent="0">
              <a:buNone/>
            </a:pPr>
            <a:r>
              <a:rPr sz="1800"/>
              <a:t>到着距離は平均3.14km → 8.49km</a:t>
            </a:r>
          </a:p>
          <a:p>
            <a:r>
              <a:rPr sz="1800"/>
              <a:t>「鉄道→徒歩」など前後交通系列を利用</a:t>
            </a:r>
          </a:p>
          <a:p>
            <a:r>
              <a:rPr sz="1800"/>
              <a:t>再推定後も時刻・チェーン整合性を検査</a:t>
            </a:r>
          </a:p>
          <a:p>
            <a:r>
              <a:rPr sz="1800"/>
              <a:t>次段階：途中立ち寄り、外部検証、ホテル活動</a:t>
            </a:r>
          </a:p>
          <a:p>
            <a:endParaRPr sz="1800"/>
          </a:p>
          <a:p>
            <a:pPr marL="0" indent="0">
              <a:buNone/>
            </a:pPr>
            <a:r>
              <a:rPr sz="1800" b="1"/>
              <a:t>次回MTGで50m/100m境界と目的別人数の扱いを確認する。</a:t>
            </a:r>
          </a:p>
        </p:txBody>
      </p:sp>
    </p:spTree>
    <p:extLst>
      <p:ext uri="{BB962C8B-B14F-4D97-AF65-F5344CB8AC3E}">
        <p14:creationId xmlns:p14="http://schemas.microsoft.com/office/powerpoint/2010/main" val="1165167113"/>
      </p:ext>
    </p:extLst>
  </p:cSld>
  <p:clrMapOvr>
    <a:masterClrMapping/>
  </p:clrMapOvr>
</p:sld>
</file>

<file path=ppt/theme/theme1.xml><?xml version="1.0" encoding="utf-8"?>
<a:theme xmlns:a="http://schemas.openxmlformats.org/drawingml/2006/main" name="標準スライド">
  <a:themeElements>
    <a:clrScheme name="Office テーマ">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標準スライド">
  <a:themeElements>
    <a:clrScheme name="Office テーマ">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736</Words>
  <Application>Microsoft Macintosh PowerPoint</Application>
  <DocSecurity>0</DocSecurity>
  <PresentationFormat>ワイド画面</PresentationFormat>
  <Paragraphs>153</Paragraphs>
  <Slides>6</Slides>
  <Notes>6</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HGMinchoE</vt:lpstr>
      <vt:lpstr>Noto Sans CJK JP</vt:lpstr>
      <vt:lpstr>Calibri</vt:lpstr>
      <vt:lpstr>標準スライド</vt:lpstr>
      <vt:lpstr>修士論文研究の進捗 人流分析モデルの初期実装 ～名鉄名古屋駅周辺を対象に</vt:lpstr>
      <vt:lpstr>人流モデルの中核処理を一通り実装</vt:lpstr>
      <vt:lpstr>名古屋全件から個人単位のトリップチェーンを復元</vt:lpstr>
      <vt:lpstr>潜在来訪者を選び、目的地と後続出発地を連続して置換</vt:lpstr>
      <vt:lpstr>境界と候補閾値で結果は大きく変わる</vt:lpstr>
      <vt:lpstr>次は目的別需要と交通手段再推定へ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渡辺　悠生</cp:lastModifiedBy>
  <cp:revision>1</cp:revision>
  <dcterms:created xsi:type="dcterms:W3CDTF">2026-08-05T07:15:04Z</dcterms:created>
  <dcterms:modified xsi:type="dcterms:W3CDTF">2026-08-06T02:03:18Z</dcterms:modified>
</cp:coreProperties>
</file>